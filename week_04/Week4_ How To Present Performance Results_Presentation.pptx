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E36C60-C50F-4DE3-AACB-E44D898A6528}">
  <a:tblStyle styleId="{5BE36C60-C50F-4DE3-AACB-E44D898A652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ono-bold.fntdata"/><Relationship Id="rId10" Type="http://schemas.openxmlformats.org/officeDocument/2006/relationships/slide" Target="slides/slide4.xml"/><Relationship Id="rId32" Type="http://schemas.openxmlformats.org/officeDocument/2006/relationships/font" Target="fonts/RobotoMono-regular.fntdata"/><Relationship Id="rId13" Type="http://schemas.openxmlformats.org/officeDocument/2006/relationships/slide" Target="slides/slide7.xml"/><Relationship Id="rId35" Type="http://schemas.openxmlformats.org/officeDocument/2006/relationships/font" Target="fonts/RobotoMono-boldItalic.fntdata"/><Relationship Id="rId12" Type="http://schemas.openxmlformats.org/officeDocument/2006/relationships/slide" Target="slides/slide6.xml"/><Relationship Id="rId34" Type="http://schemas.openxmlformats.org/officeDocument/2006/relationships/font" Target="fonts/RobotoMon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3efeba87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3efeba87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3efeba87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3efeba87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3efeba878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3efeba878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3e9d9242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3e9d9242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tell me your code runs in 5ms, that means nothing unless I know where it ran. Was it an i9 or an i3? Was Turbo Boost on? Was Chrome eating your RAM? You must document the environment, or the result is not reproducible."</a:t>
            </a:r>
            <a:br>
              <a:rPr lang="en"/>
            </a:br>
            <a:br>
              <a:rPr lang="en"/>
            </a:br>
            <a:r>
              <a:rPr lang="en">
                <a:solidFill>
                  <a:schemeClr val="dk1"/>
                </a:solidFill>
              </a:rPr>
              <a:t>"When you say 'I have an i7', you aren't saying enough. Look at this </a:t>
            </a:r>
            <a:r>
              <a:rPr lang="en">
                <a:solidFill>
                  <a:srgbClr val="188038"/>
                </a:solidFill>
                <a:latin typeface="Roboto Mono"/>
                <a:ea typeface="Roboto Mono"/>
                <a:cs typeface="Roboto Mono"/>
                <a:sym typeface="Roboto Mono"/>
              </a:rPr>
              <a:t>lscpu</a:t>
            </a:r>
            <a:r>
              <a:rPr lang="en">
                <a:solidFill>
                  <a:schemeClr val="dk1"/>
                </a:solidFill>
              </a:rPr>
              <a:t> output. This is the DNA of your computer. It tells us the </a:t>
            </a:r>
            <a:r>
              <a:rPr b="1" lang="en">
                <a:solidFill>
                  <a:schemeClr val="dk1"/>
                </a:solidFill>
              </a:rPr>
              <a:t>L3 Cache size</a:t>
            </a:r>
            <a:r>
              <a:rPr lang="en">
                <a:solidFill>
                  <a:schemeClr val="dk1"/>
                </a:solidFill>
              </a:rPr>
              <a:t>, the </a:t>
            </a:r>
            <a:r>
              <a:rPr b="1" lang="en">
                <a:solidFill>
                  <a:schemeClr val="dk1"/>
                </a:solidFill>
              </a:rPr>
              <a:t>Architecture</a:t>
            </a:r>
            <a:r>
              <a:rPr lang="en">
                <a:solidFill>
                  <a:schemeClr val="dk1"/>
                </a:solidFill>
              </a:rPr>
              <a:t>, and the </a:t>
            </a:r>
            <a:r>
              <a:rPr b="1" lang="en">
                <a:solidFill>
                  <a:schemeClr val="dk1"/>
                </a:solidFill>
              </a:rPr>
              <a:t>Byte Order</a:t>
            </a:r>
            <a:r>
              <a:rPr lang="en">
                <a:solidFill>
                  <a:schemeClr val="dk1"/>
                </a:solidFill>
              </a:rPr>
              <a:t>. If your L3 cache is 12MB and mine is 24MB, my code will run 2x faster than yours, even if our GHz is the same. </a:t>
            </a:r>
            <a:r>
              <a:rPr b="1" lang="en">
                <a:solidFill>
                  <a:schemeClr val="dk1"/>
                </a:solidFill>
              </a:rPr>
              <a:t>Your report must include this data.</a:t>
            </a:r>
            <a:r>
              <a:rPr lang="en">
                <a:solidFill>
                  <a:schemeClr val="dk1"/>
                </a:solidFill>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3e9d924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3e9d924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Never use </a:t>
            </a:r>
            <a:r>
              <a:rPr lang="en">
                <a:solidFill>
                  <a:srgbClr val="188038"/>
                </a:solidFill>
                <a:latin typeface="Roboto Mono"/>
                <a:ea typeface="Roboto Mono"/>
                <a:cs typeface="Roboto Mono"/>
                <a:sym typeface="Roboto Mono"/>
              </a:rPr>
              <a:t>time.time()</a:t>
            </a:r>
            <a:r>
              <a:rPr lang="en">
                <a:solidFill>
                  <a:schemeClr val="dk1"/>
                </a:solidFill>
              </a:rPr>
              <a:t>. It’s controlled by the internet. If the server updates the time while your benchmark is running, you could get a negative result. Always use </a:t>
            </a:r>
            <a:r>
              <a:rPr lang="en">
                <a:solidFill>
                  <a:srgbClr val="188038"/>
                </a:solidFill>
                <a:latin typeface="Roboto Mono"/>
                <a:ea typeface="Roboto Mono"/>
                <a:cs typeface="Roboto Mono"/>
                <a:sym typeface="Roboto Mono"/>
              </a:rPr>
              <a:t>steady_clock</a:t>
            </a:r>
            <a:r>
              <a:rPr lang="en">
                <a:solidFill>
                  <a:schemeClr val="dk1"/>
                </a:solidFill>
              </a:rPr>
              <a:t>—it measures physics, not time of 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Hook (The "Negative Time" Problem)</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"Imagine you run a benchmark. You start the timer at 12:00:00. You finish at 12:00:01. The duration is 1 second. Simple, right?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Now imagine the operating system decides at that exact moment to sync with the internet. It realizes your clock is fast and sets it back to 11:59:59.</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You finish the benchmark. </a:t>
            </a:r>
            <a:r>
              <a:rPr b="1" lang="en">
                <a:solidFill>
                  <a:schemeClr val="dk1"/>
                </a:solidFill>
              </a:rPr>
              <a:t>End Time - Start Time = Negative 1 second.</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This happens. It ruins experiments. And it happens because you used the </a:t>
            </a:r>
            <a:r>
              <a:rPr b="1" lang="en">
                <a:solidFill>
                  <a:schemeClr val="dk1"/>
                </a:solidFill>
              </a:rPr>
              <a:t>Wall Clock</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The Solution (The Monotonic Clock)</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"For science, we never use Wall Time. We use </a:t>
            </a:r>
            <a:r>
              <a:rPr b="1" lang="en">
                <a:solidFill>
                  <a:schemeClr val="dk1"/>
                </a:solidFill>
              </a:rPr>
              <a:t>Monotonic Time</a:t>
            </a:r>
            <a:r>
              <a:rPr lang="en">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Monotonic means 'always increasing.' It doesn't care what time it is in London. It just counts hardware ticks from the moment you turned the computer 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It cannot jump back. It cannot be reset by the internet. It is the only valid way to measure software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The Takeaway</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"In Python, don't use </a:t>
            </a:r>
            <a:r>
              <a:rPr lang="en">
                <a:solidFill>
                  <a:srgbClr val="188038"/>
                </a:solidFill>
                <a:latin typeface="Roboto Mono"/>
                <a:ea typeface="Roboto Mono"/>
                <a:cs typeface="Roboto Mono"/>
                <a:sym typeface="Roboto Mono"/>
              </a:rPr>
              <a:t>time.time()</a:t>
            </a:r>
            <a:r>
              <a:rPr lang="en">
                <a:solidFill>
                  <a:schemeClr val="dk1"/>
                </a:solidFill>
              </a:rPr>
              <a:t>. Use </a:t>
            </a:r>
            <a:r>
              <a:rPr lang="en">
                <a:solidFill>
                  <a:srgbClr val="188038"/>
                </a:solidFill>
                <a:latin typeface="Roboto Mono"/>
                <a:ea typeface="Roboto Mono"/>
                <a:cs typeface="Roboto Mono"/>
                <a:sym typeface="Roboto Mono"/>
              </a:rPr>
              <a:t>time.monotonic()</a:t>
            </a:r>
            <a:r>
              <a:rPr lang="en">
                <a:solidFill>
                  <a:schemeClr val="dk1"/>
                </a:solidFill>
              </a:rPr>
              <a:t>. In C++, use </a:t>
            </a:r>
            <a:r>
              <a:rPr lang="en">
                <a:solidFill>
                  <a:srgbClr val="188038"/>
                </a:solidFill>
                <a:latin typeface="Roboto Mono"/>
                <a:ea typeface="Roboto Mono"/>
                <a:cs typeface="Roboto Mono"/>
                <a:sym typeface="Roboto Mono"/>
              </a:rPr>
              <a:t>std::chrono::steady_clock</a:t>
            </a:r>
            <a:r>
              <a:rPr lang="en">
                <a:solidFill>
                  <a:schemeClr val="dk1"/>
                </a:solidFill>
              </a:rPr>
              <a:t>. If you see </a:t>
            </a:r>
            <a:r>
              <a:rPr lang="en">
                <a:solidFill>
                  <a:srgbClr val="188038"/>
                </a:solidFill>
                <a:latin typeface="Roboto Mono"/>
                <a:ea typeface="Roboto Mono"/>
                <a:cs typeface="Roboto Mono"/>
                <a:sym typeface="Roboto Mono"/>
              </a:rPr>
              <a:t>system_clock</a:t>
            </a:r>
            <a:r>
              <a:rPr lang="en">
                <a:solidFill>
                  <a:schemeClr val="dk1"/>
                </a:solidFill>
              </a:rPr>
              <a:t> in your code, delete it."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8598a26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8598a26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8514434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8514434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85144348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85144348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85144348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85144348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85144348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85144348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3e9d9242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3e9d9242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1. The Arithmetic Mean (The "Standard")</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"Everyone knows the Arithmetic Mean. You add the numbers and divide by the count.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Rule:</a:t>
            </a:r>
            <a:r>
              <a:rPr lang="en">
                <a:solidFill>
                  <a:schemeClr val="dk1"/>
                </a:solidFill>
              </a:rPr>
              <a:t> Use this </a:t>
            </a:r>
            <a:r>
              <a:rPr i="1" lang="en">
                <a:solidFill>
                  <a:schemeClr val="dk1"/>
                </a:solidFill>
              </a:rPr>
              <a:t>only</a:t>
            </a:r>
            <a:r>
              <a:rPr lang="en">
                <a:solidFill>
                  <a:schemeClr val="dk1"/>
                </a:solidFill>
              </a:rPr>
              <a:t> when measuring pure </a:t>
            </a:r>
            <a:r>
              <a:rPr b="1" lang="en">
                <a:solidFill>
                  <a:schemeClr val="dk1"/>
                </a:solidFill>
              </a:rPr>
              <a:t>Time</a:t>
            </a:r>
            <a:r>
              <a:rPr lang="en">
                <a:solidFill>
                  <a:schemeClr val="dk1"/>
                </a:solidFill>
              </a:rPr>
              <a:t> (seconds, milliseconds).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If you are measuring how long a task takes, this is correct."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The Harmonic Mean (The "Rate" Fix)</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"But what if you are measuring </a:t>
            </a:r>
            <a:r>
              <a:rPr b="1" lang="en">
                <a:solidFill>
                  <a:schemeClr val="dk1"/>
                </a:solidFill>
              </a:rPr>
              <a:t>Rates</a:t>
            </a:r>
            <a:r>
              <a:rPr lang="en">
                <a:solidFill>
                  <a:schemeClr val="dk1"/>
                </a:solidFill>
              </a:rPr>
              <a:t>, like 'Megabytes per Second' or 'Frames per Second'?</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A Rate is a fraction: work/time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If you use the Arithmetic Mean on rates, you get the wrong answer. You bias the result toward the high outliers.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Rule:</a:t>
            </a:r>
            <a:r>
              <a:rPr lang="en">
                <a:solidFill>
                  <a:schemeClr val="dk1"/>
                </a:solidFill>
              </a:rPr>
              <a:t> For any rate (MB/s, MIPS, FPS), you </a:t>
            </a:r>
            <a:r>
              <a:rPr i="1" lang="en">
                <a:solidFill>
                  <a:schemeClr val="dk1"/>
                </a:solidFill>
              </a:rPr>
              <a:t>must</a:t>
            </a:r>
            <a:r>
              <a:rPr lang="en">
                <a:solidFill>
                  <a:schemeClr val="dk1"/>
                </a:solidFill>
              </a:rPr>
              <a:t> use the </a:t>
            </a:r>
            <a:r>
              <a:rPr b="1" lang="en">
                <a:solidFill>
                  <a:schemeClr val="dk1"/>
                </a:solidFill>
              </a:rPr>
              <a:t>Harmonic Mean</a:t>
            </a:r>
            <a:r>
              <a:rPr lang="en">
                <a:solidFill>
                  <a:schemeClr val="dk1"/>
                </a:solidFill>
              </a:rPr>
              <a:t>. It handles the fractions correctly."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The Geometric Mean (The "Ratio" Fix)</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"Finally, what if you are normalizing data? Like saying 'System A is 1.5x faster than System B'?</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These are </a:t>
            </a:r>
            <a:r>
              <a:rPr b="1" lang="en">
                <a:solidFill>
                  <a:schemeClr val="dk1"/>
                </a:solidFill>
              </a:rPr>
              <a:t>Ratios</a:t>
            </a:r>
            <a:r>
              <a:rPr lang="en">
                <a:solidFill>
                  <a:schemeClr val="dk1"/>
                </a:solidFill>
              </a:rPr>
              <a:t>, not raw numbers.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Rule:</a:t>
            </a:r>
            <a:r>
              <a:rPr lang="en">
                <a:solidFill>
                  <a:schemeClr val="dk1"/>
                </a:solidFill>
              </a:rPr>
              <a:t> For speedups and unitless ratios, use the </a:t>
            </a:r>
            <a:r>
              <a:rPr b="1" lang="en">
                <a:solidFill>
                  <a:schemeClr val="dk1"/>
                </a:solidFill>
              </a:rPr>
              <a:t>Geometric Mean</a:t>
            </a:r>
            <a:r>
              <a:rPr lang="en">
                <a:solidFill>
                  <a:schemeClr val="dk1"/>
                </a:solidFill>
              </a:rPr>
              <a:t>. This ensures the math works regardless of which system is the baseline."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Interactive "Pop Quiz" (To Wake Them Up)</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i="1" lang="en">
                <a:solidFill>
                  <a:schemeClr val="dk1"/>
                </a:solidFill>
              </a:rPr>
              <a:t>This is the best way to prove why Harmonic Mean matters.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Setup:</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"Let's do a quick mental math check.</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 drive to the store at </a:t>
            </a:r>
            <a:r>
              <a:rPr b="1" lang="en">
                <a:solidFill>
                  <a:schemeClr val="dk1"/>
                </a:solidFill>
              </a:rPr>
              <a:t>10 mph</a:t>
            </a:r>
            <a:r>
              <a:rPr lang="en">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 drive back home at </a:t>
            </a:r>
            <a:r>
              <a:rPr b="1" lang="en">
                <a:solidFill>
                  <a:schemeClr val="dk1"/>
                </a:solidFill>
              </a:rPr>
              <a:t>100 mph</a:t>
            </a:r>
            <a:r>
              <a:rPr lang="en">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distance is the same.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What is my average speed?</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Trap:</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Most people will say </a:t>
            </a:r>
            <a:r>
              <a:rPr b="1" lang="en">
                <a:solidFill>
                  <a:schemeClr val="dk1"/>
                </a:solidFill>
              </a:rPr>
              <a:t>55 mph</a:t>
            </a:r>
            <a:r>
              <a:rPr lang="en">
                <a:solidFill>
                  <a:schemeClr val="dk1"/>
                </a:solidFill>
              </a:rPr>
              <a:t> ($10 + 100 / 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The Reality:</a:t>
            </a:r>
            <a:r>
              <a:rPr lang="en">
                <a:solidFill>
                  <a:schemeClr val="dk1"/>
                </a:solidFill>
              </a:rPr>
              <a:t> It is actually </a:t>
            </a:r>
            <a:r>
              <a:rPr b="1" lang="en">
                <a:solidFill>
                  <a:schemeClr val="dk1"/>
                </a:solidFill>
              </a:rPr>
              <a:t>~18 mph</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i="1" lang="en">
                <a:solidFill>
                  <a:schemeClr val="dk1"/>
                </a:solidFill>
              </a:rPr>
              <a:t>Why?</a:t>
            </a:r>
            <a:r>
              <a:rPr lang="en">
                <a:solidFill>
                  <a:schemeClr val="dk1"/>
                </a:solidFill>
              </a:rPr>
              <a:t> Because you spent 10x more </a:t>
            </a:r>
            <a:r>
              <a:rPr i="1" lang="en">
                <a:solidFill>
                  <a:schemeClr val="dk1"/>
                </a:solidFill>
              </a:rPr>
              <a:t>time</a:t>
            </a:r>
            <a:r>
              <a:rPr lang="en">
                <a:solidFill>
                  <a:schemeClr val="dk1"/>
                </a:solidFill>
              </a:rPr>
              <a:t> driving slow (10mph) than you did driving fast.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a:t>
            </a:r>
            <a:r>
              <a:rPr b="1" lang="en">
                <a:solidFill>
                  <a:schemeClr val="dk1"/>
                </a:solidFill>
              </a:rPr>
              <a:t>Harmonic Mean</a:t>
            </a:r>
            <a:r>
              <a:rPr lang="en">
                <a:solidFill>
                  <a:schemeClr val="dk1"/>
                </a:solidFill>
              </a:rPr>
              <a:t> correctly calculates this as 18 mph. The Arithmetic Mean (55) is a lie.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Conclusion:</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"If you used the Arithmetic Mean for your network throughput, you would lie to your boss just like you lied about the car speed. </a:t>
            </a:r>
            <a:r>
              <a:rPr b="1" lang="en">
                <a:solidFill>
                  <a:schemeClr val="dk1"/>
                </a:solidFill>
              </a:rPr>
              <a:t>Use the Harmonic Mean for rates.</a:t>
            </a:r>
            <a:r>
              <a:rPr lang="en">
                <a:solidFill>
                  <a:schemeClr val="dk1"/>
                </a:solidFill>
              </a:rPr>
              <a: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3e9d9242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3e9d9242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3efeba878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3efeba878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3f07e89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3f07e89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3e9d9242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3e9d9242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8d4679c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8d4679c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8d4679ce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8d4679ce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8d4679ce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8d4679ce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8d4679ce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8d4679ce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8d4679ce2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c8d4679ce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8d4679ce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8d4679ce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8bfeb5d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c8bfeb5d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talk about the single biggest statistical lie in systems engineering: </a:t>
            </a:r>
            <a:r>
              <a:rPr b="1" lang="en">
                <a:solidFill>
                  <a:schemeClr val="dk1"/>
                </a:solidFill>
              </a:rPr>
              <a:t>Coordinated Omission</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Look at this graph.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Blue Line</a:t>
            </a:r>
            <a:r>
              <a:rPr lang="en">
                <a:solidFill>
                  <a:schemeClr val="dk1"/>
                </a:solidFill>
              </a:rPr>
              <a:t> is what standard tools like ApacheBench report. It looks amazing. It stays flat and low all the way to the 99.99th percentile. It tells you the system is perfect.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Red Line</a:t>
            </a:r>
            <a:r>
              <a:rPr lang="en">
                <a:solidFill>
                  <a:schemeClr val="dk1"/>
                </a:solidFill>
              </a:rPr>
              <a:t> is the </a:t>
            </a:r>
            <a:r>
              <a:rPr i="1" lang="en">
                <a:solidFill>
                  <a:schemeClr val="dk1"/>
                </a:solidFill>
              </a:rPr>
              <a:t>exact same system</a:t>
            </a:r>
            <a:r>
              <a:rPr lang="en">
                <a:solidFill>
                  <a:schemeClr val="dk1"/>
                </a:solidFill>
              </a:rPr>
              <a:t> measured correctly.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Why the difference? Standard tools are </a:t>
            </a:r>
            <a:r>
              <a:rPr b="1" lang="en">
                <a:solidFill>
                  <a:schemeClr val="dk1"/>
                </a:solidFill>
              </a:rPr>
              <a:t>Closed Loop</a:t>
            </a:r>
            <a:r>
              <a:rPr lang="en">
                <a:solidFill>
                  <a:schemeClr val="dk1"/>
                </a:solidFill>
              </a:rPr>
              <a:t>. If the server freezes for 10 seconds (e.g., a Garbage Collection pause), the benchmark tool waits. It stops measuring. It effectively 'omits' the 10-second failure from the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Red Line</a:t>
            </a:r>
            <a:r>
              <a:rPr lang="en">
                <a:solidFill>
                  <a:schemeClr val="dk1"/>
                </a:solidFill>
              </a:rPr>
              <a:t> accounts for that stall. It shows that the 99th percentile latency is actually massive.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Takeaway:</a:t>
            </a:r>
            <a:r>
              <a:rPr lang="en">
                <a:solidFill>
                  <a:schemeClr val="dk1"/>
                </a:solidFill>
              </a:rPr>
              <a:t> The Blue line is 'Survivor Bias'—it only measured the happy paths. If you publish the Blue line in a paper, your results are invalid."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8bfeb5d4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c8bfeb5d4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second crime is treating Throughput and Latency as if they are separate variables. They are not. They are enemies.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Look at this curve. On the left, latency is low, but throughput is boring. On the right, throughput is high, but latency is infinite (the system is crashing).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read a paper that says, 'We achieved 1 million ops/sec' and '1ms latency' in separate paragraphs, they are likely lying. They achieved the 1 million ops at the top of this curve (where latency is terrible), and the 1ms latency at the bottom (where throughput is tiny).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be rigorous, you must plot this </a:t>
            </a:r>
            <a:r>
              <a:rPr b="1" lang="en">
                <a:solidFill>
                  <a:schemeClr val="dk1"/>
                </a:solidFill>
              </a:rPr>
              <a:t>Saturation Curve</a:t>
            </a:r>
            <a:r>
              <a:rPr lang="en">
                <a:solidFill>
                  <a:schemeClr val="dk1"/>
                </a:solidFill>
              </a:rPr>
              <a:t>. You need to show us exactly where the </a:t>
            </a:r>
            <a:r>
              <a:rPr b="1" lang="en">
                <a:solidFill>
                  <a:schemeClr val="dk1"/>
                </a:solidFill>
              </a:rPr>
              <a:t>'Knee'</a:t>
            </a:r>
            <a:r>
              <a:rPr lang="en">
                <a:solidFill>
                  <a:schemeClr val="dk1"/>
                </a:solidFill>
              </a:rPr>
              <a:t> is—the point labeled 'Report Here.' That is the only honest measurement of a system's capacity."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3c40e6d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3c40e6d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"Now, let's talk about visualizing topology.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plot 64 cores on a line graph, you get spaghetti. You lose the spatial relationship between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understand hardware, we need a </a:t>
            </a:r>
            <a:r>
              <a:rPr b="1" lang="en">
                <a:solidFill>
                  <a:schemeClr val="dk1"/>
                </a:solidFill>
              </a:rPr>
              <a:t>Heat Map</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Look at this matrix. This isn't just a chart; it is a </a:t>
            </a:r>
            <a:r>
              <a:rPr b="1" lang="en">
                <a:solidFill>
                  <a:schemeClr val="dk1"/>
                </a:solidFill>
              </a:rPr>
              <a:t>Physical Map of the Silicon</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The Diagonal:</a:t>
            </a:r>
            <a:r>
              <a:rPr lang="en">
                <a:solidFill>
                  <a:schemeClr val="dk1"/>
                </a:solidFill>
              </a:rPr>
              <a:t> This is Core $N$ talking to itself. Zero latency.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The Small Purple Squares:</a:t>
            </a:r>
            <a:r>
              <a:rPr lang="en">
                <a:solidFill>
                  <a:schemeClr val="dk1"/>
                </a:solidFill>
              </a:rPr>
              <a:t> These are SMT siblings—two threads on the same physical core. They share L1 and L2 cache, so communication is instant.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The Large Purple Blocks:</a:t>
            </a:r>
            <a:r>
              <a:rPr lang="en">
                <a:solidFill>
                  <a:schemeClr val="dk1"/>
                </a:solidFill>
              </a:rPr>
              <a:t> This is the </a:t>
            </a:r>
            <a:r>
              <a:rPr b="1" lang="en">
                <a:solidFill>
                  <a:schemeClr val="dk1"/>
                </a:solidFill>
              </a:rPr>
              <a:t>CCX</a:t>
            </a:r>
            <a:r>
              <a:rPr lang="en">
                <a:solidFill>
                  <a:schemeClr val="dk1"/>
                </a:solidFill>
              </a:rPr>
              <a:t> (Core Complex). All these cores share a unified L3 cache. They can talk to each other fast.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Now look at the Yellow Zones.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a:t>
            </a:r>
            <a:r>
              <a:rPr b="1" lang="en">
                <a:solidFill>
                  <a:schemeClr val="dk1"/>
                </a:solidFill>
              </a:rPr>
              <a:t>Interconnect Penalty</a:t>
            </a:r>
            <a:r>
              <a:rPr lang="en">
                <a:solidFill>
                  <a:schemeClr val="dk1"/>
                </a:solidFill>
              </a:rPr>
              <a:t>. This happens when a thread in Core Block A tries to talk to Core Block B. The data has to physically leave the die and travel across the </a:t>
            </a:r>
            <a:r>
              <a:rPr b="1" lang="en">
                <a:solidFill>
                  <a:schemeClr val="dk1"/>
                </a:solidFill>
              </a:rPr>
              <a:t>Infinity Fabric</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Takeaway:</a:t>
            </a:r>
            <a:r>
              <a:rPr lang="en">
                <a:solidFill>
                  <a:schemeClr val="dk1"/>
                </a:solidFill>
              </a:rPr>
              <a:t> If you let the OS schedule your threads randomly, it might put a producer on Core 0 and a consumer on Core 16—right in the yellow zone. You just accepted a </a:t>
            </a:r>
            <a:r>
              <a:rPr b="1" lang="en">
                <a:solidFill>
                  <a:schemeClr val="dk1"/>
                </a:solidFill>
              </a:rPr>
              <a:t>3x latency penalty</a:t>
            </a:r>
            <a:r>
              <a:rPr lang="en">
                <a:solidFill>
                  <a:schemeClr val="dk1"/>
                </a:solidFill>
              </a:rPr>
              <a:t> for no reason.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Systems engineers use this map to write </a:t>
            </a:r>
            <a:r>
              <a:rPr b="1" lang="en">
                <a:solidFill>
                  <a:schemeClr val="dk1"/>
                </a:solidFill>
              </a:rPr>
              <a:t>Thread Affinity</a:t>
            </a:r>
            <a:r>
              <a:rPr lang="en">
                <a:solidFill>
                  <a:schemeClr val="dk1"/>
                </a:solidFill>
              </a:rPr>
              <a:t> policies, pinning threads to the same L3 domain to stay in the purple."</a:t>
            </a:r>
            <a:endParaRPr>
              <a:solidFill>
                <a:schemeClr val="dk1"/>
              </a:solidFill>
            </a:endParaRPr>
          </a:p>
          <a:p>
            <a:pPr indent="0" lvl="0" marL="0" rtl="0" algn="l">
              <a:spcBef>
                <a:spcPts val="1200"/>
              </a:spcBef>
              <a:spcAft>
                <a:spcPts val="0"/>
              </a:spcAft>
              <a:buNone/>
            </a:pPr>
            <a:r>
              <a:t/>
            </a:r>
            <a:endParaRPr b="1" sz="1300">
              <a:solidFill>
                <a:srgbClr val="1F1F1F"/>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oursesite.lehigh.edu/user/view.php?id=149562&amp;course=386172" TargetMode="External"/><Relationship Id="rId4" Type="http://schemas.openxmlformats.org/officeDocument/2006/relationships/hyperlink" Target="https://coursesite.lehigh.edu/user/view.php?id=86129&amp;course=38617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brendangregg.com/flamegraph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000">
                <a:latin typeface="Times New Roman"/>
                <a:ea typeface="Times New Roman"/>
                <a:cs typeface="Times New Roman"/>
                <a:sym typeface="Times New Roman"/>
              </a:rPr>
              <a:t>How To Present Performance Results</a:t>
            </a:r>
            <a:endParaRPr sz="4000">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92500" lnSpcReduction="20000"/>
          </a:bodyPr>
          <a:lstStyle/>
          <a:p>
            <a:pPr indent="0" lvl="0" marL="5486400" rtl="0" algn="l">
              <a:lnSpc>
                <a:spcPct val="115000"/>
              </a:lnSpc>
              <a:spcBef>
                <a:spcPts val="0"/>
              </a:spcBef>
              <a:spcAft>
                <a:spcPts val="0"/>
              </a:spcAft>
              <a:buSzPct val="29333"/>
              <a:buNone/>
            </a:pPr>
            <a:r>
              <a:rPr lang="en" sz="1500">
                <a:solidFill>
                  <a:schemeClr val="dk1"/>
                </a:solidFill>
                <a:latin typeface="Times New Roman"/>
                <a:ea typeface="Times New Roman"/>
                <a:cs typeface="Times New Roman"/>
                <a:sym typeface="Times New Roman"/>
              </a:rPr>
              <a:t>Santhoshi Karri</a:t>
            </a:r>
            <a:endParaRPr sz="1500">
              <a:solidFill>
                <a:schemeClr val="dk1"/>
              </a:solidFill>
              <a:latin typeface="Times New Roman"/>
              <a:ea typeface="Times New Roman"/>
              <a:cs typeface="Times New Roman"/>
              <a:sym typeface="Times New Roman"/>
            </a:endParaRPr>
          </a:p>
          <a:p>
            <a:pPr indent="0" lvl="0" marL="5486400" rtl="0" algn="l">
              <a:lnSpc>
                <a:spcPct val="115000"/>
              </a:lnSpc>
              <a:spcBef>
                <a:spcPts val="0"/>
              </a:spcBef>
              <a:spcAft>
                <a:spcPts val="0"/>
              </a:spcAft>
              <a:buSzPct val="29333"/>
              <a:buNone/>
            </a:pPr>
            <a:r>
              <a:rPr lang="en" sz="15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Vijayakumar (Rittu) Rittambhra Rani</a:t>
            </a:r>
            <a:endParaRPr sz="1500">
              <a:solidFill>
                <a:schemeClr val="dk1"/>
              </a:solidFill>
              <a:latin typeface="Times New Roman"/>
              <a:ea typeface="Times New Roman"/>
              <a:cs typeface="Times New Roman"/>
              <a:sym typeface="Times New Roman"/>
            </a:endParaRPr>
          </a:p>
          <a:p>
            <a:pPr indent="0" lvl="0" marL="5486400" rtl="0" algn="l">
              <a:lnSpc>
                <a:spcPct val="115000"/>
              </a:lnSpc>
              <a:spcBef>
                <a:spcPts val="0"/>
              </a:spcBef>
              <a:spcAft>
                <a:spcPts val="0"/>
              </a:spcAft>
              <a:buSzPct val="29333"/>
              <a:buNone/>
            </a:pPr>
            <a:r>
              <a:rPr lang="en" sz="15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Carl Chang</a:t>
            </a:r>
            <a:endParaRPr sz="10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99925"/>
            <a:ext cx="8520600" cy="4866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650"/>
              <a:t>Relationship between Latency and Throughput?</a:t>
            </a:r>
            <a:endParaRPr sz="2650"/>
          </a:p>
          <a:p>
            <a:pPr indent="-342900" lvl="0" marL="457200" rtl="0" algn="l">
              <a:spcBef>
                <a:spcPts val="0"/>
              </a:spcBef>
              <a:spcAft>
                <a:spcPts val="0"/>
              </a:spcAft>
              <a:buSzPct val="100000"/>
              <a:buChar char="●"/>
            </a:pPr>
            <a:r>
              <a:rPr lang="en" sz="2000"/>
              <a:t>Latency and throughput work together to deliver high network connectivity and performance. </a:t>
            </a:r>
            <a:endParaRPr sz="2000"/>
          </a:p>
          <a:p>
            <a:pPr indent="-342900" lvl="0" marL="457200" rtl="0" algn="l">
              <a:spcBef>
                <a:spcPts val="0"/>
              </a:spcBef>
              <a:spcAft>
                <a:spcPts val="0"/>
              </a:spcAft>
              <a:buSzPct val="100000"/>
              <a:buChar char="●"/>
            </a:pPr>
            <a:r>
              <a:rPr lang="en" sz="2000"/>
              <a:t>As both impact the transmission of data packets they also affect one another</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“Many eggs can boil in parallel in a big pot, but a single egg still takes its full time”</a:t>
            </a:r>
            <a:endParaRPr sz="2000"/>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2650"/>
              <a:t>How can you Improve Latency and Throughput?</a:t>
            </a:r>
            <a:endParaRPr sz="1500">
              <a:latin typeface="Times New Roman"/>
              <a:ea typeface="Times New Roman"/>
              <a:cs typeface="Times New Roman"/>
              <a:sym typeface="Times New Roman"/>
            </a:endParaRPr>
          </a:p>
          <a:p>
            <a:pPr indent="-342900" lvl="0" marL="457200" marR="0" rtl="0" algn="l">
              <a:lnSpc>
                <a:spcPct val="100000"/>
              </a:lnSpc>
              <a:spcBef>
                <a:spcPts val="0"/>
              </a:spcBef>
              <a:spcAft>
                <a:spcPts val="0"/>
              </a:spcAft>
              <a:buSzPct val="100000"/>
              <a:buChar char="●"/>
            </a:pPr>
            <a:r>
              <a:rPr lang="en" sz="2000"/>
              <a:t>To improve latency, by shorten the propagation between the source and destination, reducing processing delays and minimizing round trips.	</a:t>
            </a:r>
            <a:endParaRPr sz="2000"/>
          </a:p>
          <a:p>
            <a:pPr indent="-342900" lvl="0" marL="457200" marR="0" rtl="0" algn="l">
              <a:lnSpc>
                <a:spcPct val="100000"/>
              </a:lnSpc>
              <a:spcBef>
                <a:spcPts val="0"/>
              </a:spcBef>
              <a:spcAft>
                <a:spcPts val="0"/>
              </a:spcAft>
              <a:buSzPct val="100000"/>
              <a:buChar char="●"/>
            </a:pPr>
            <a:r>
              <a:rPr lang="en" sz="2000"/>
              <a:t>To improve throughput, by increasing the overall network Bandwidth, adding parallelism, improving resource utilization and eliminating bottlenecks.</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p>
          <a:p>
            <a:pPr indent="0" lvl="0" marL="0" marR="0" rtl="0" algn="l">
              <a:lnSpc>
                <a:spcPct val="100000"/>
              </a:lnSpc>
              <a:spcBef>
                <a:spcPts val="0"/>
              </a:spcBef>
              <a:spcAft>
                <a:spcPts val="0"/>
              </a:spcAft>
              <a:buNone/>
            </a:pPr>
            <a:r>
              <a:rPr lang="en" sz="2000"/>
              <a:t>Some suggestions to improve latency and throughput together</a:t>
            </a:r>
            <a:endParaRPr sz="1800">
              <a:latin typeface="Times New Roman"/>
              <a:ea typeface="Times New Roman"/>
              <a:cs typeface="Times New Roman"/>
              <a:sym typeface="Times New Roman"/>
            </a:endParaRPr>
          </a:p>
          <a:p>
            <a:pPr indent="-342900" lvl="0" marL="457200" marR="0" rtl="0" algn="l">
              <a:lnSpc>
                <a:spcPct val="100000"/>
              </a:lnSpc>
              <a:spcBef>
                <a:spcPts val="0"/>
              </a:spcBef>
              <a:spcAft>
                <a:spcPts val="0"/>
              </a:spcAft>
              <a:buSzPct val="100000"/>
              <a:buChar char="●"/>
            </a:pPr>
            <a:r>
              <a:rPr lang="en" sz="2000"/>
              <a:t>Caching</a:t>
            </a:r>
            <a:endParaRPr sz="2000"/>
          </a:p>
          <a:p>
            <a:pPr indent="-342900" lvl="0" marL="457200" marR="0" rtl="0" algn="l">
              <a:lnSpc>
                <a:spcPct val="100000"/>
              </a:lnSpc>
              <a:spcBef>
                <a:spcPts val="0"/>
              </a:spcBef>
              <a:spcAft>
                <a:spcPts val="0"/>
              </a:spcAft>
              <a:buSzPct val="100000"/>
              <a:buChar char="●"/>
            </a:pPr>
            <a:r>
              <a:rPr lang="en" sz="2000"/>
              <a:t>Transport protocols</a:t>
            </a:r>
            <a:endParaRPr sz="2000"/>
          </a:p>
          <a:p>
            <a:pPr indent="-342900" lvl="0" marL="457200" marR="0" rtl="0" algn="l">
              <a:lnSpc>
                <a:spcPct val="100000"/>
              </a:lnSpc>
              <a:spcBef>
                <a:spcPts val="0"/>
              </a:spcBef>
              <a:spcAft>
                <a:spcPts val="0"/>
              </a:spcAft>
              <a:buSzPct val="100000"/>
              <a:buChar char="●"/>
            </a:pPr>
            <a:r>
              <a:rPr lang="en" sz="2000"/>
              <a:t>Quality of Service</a:t>
            </a:r>
            <a:endParaRPr sz="1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311700" y="0"/>
            <a:ext cx="8520600" cy="49968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sz="2650">
                <a:solidFill>
                  <a:schemeClr val="dk1"/>
                </a:solidFill>
              </a:rPr>
              <a:t>Measuring Throughput or </a:t>
            </a:r>
            <a:r>
              <a:rPr lang="en" sz="2650">
                <a:solidFill>
                  <a:schemeClr val="dk1"/>
                </a:solidFill>
              </a:rPr>
              <a:t>Latency?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300">
              <a:solidFill>
                <a:schemeClr val="dk1"/>
              </a:solidFill>
            </a:endParaRPr>
          </a:p>
          <a:p>
            <a:pPr indent="0" lvl="0" marL="0" rtl="0" algn="l">
              <a:spcBef>
                <a:spcPts val="1200"/>
              </a:spcBef>
              <a:spcAft>
                <a:spcPts val="1200"/>
              </a:spcAft>
              <a:buNone/>
            </a:pPr>
            <a:r>
              <a:rPr lang="en" sz="2300">
                <a:solidFill>
                  <a:schemeClr val="dk1"/>
                </a:solidFill>
              </a:rPr>
              <a:t>Each smh.match() call operates on different buffers, so the CPU can execute multiple operations simultaneously using out-of-order execution.</a:t>
            </a:r>
            <a:endParaRPr sz="2300">
              <a:solidFill>
                <a:schemeClr val="dk1"/>
              </a:solidFill>
              <a:latin typeface="Times New Roman"/>
              <a:ea typeface="Times New Roman"/>
              <a:cs typeface="Times New Roman"/>
              <a:sym typeface="Times New Roman"/>
            </a:endParaRPr>
          </a:p>
        </p:txBody>
      </p:sp>
      <p:pic>
        <p:nvPicPr>
          <p:cNvPr id="66" name="Google Shape;66;p15"/>
          <p:cNvPicPr preferRelativeResize="0"/>
          <p:nvPr/>
        </p:nvPicPr>
        <p:blipFill>
          <a:blip r:embed="rId3">
            <a:alphaModFix/>
          </a:blip>
          <a:stretch>
            <a:fillRect/>
          </a:stretch>
        </p:blipFill>
        <p:spPr>
          <a:xfrm>
            <a:off x="311700" y="528750"/>
            <a:ext cx="8472526" cy="3676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1" type="body"/>
          </p:nvPr>
        </p:nvSpPr>
        <p:spPr>
          <a:xfrm>
            <a:off x="249825" y="109925"/>
            <a:ext cx="8582400" cy="4856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400">
                <a:solidFill>
                  <a:schemeClr val="dk1"/>
                </a:solidFill>
              </a:rPr>
              <a:t>Measuring Throughput or Latency?</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Clr>
                <a:schemeClr val="dk1"/>
              </a:buClr>
              <a:buSzPts val="1100"/>
              <a:buFont typeface="Arial"/>
              <a:buNone/>
            </a:pPr>
            <a:r>
              <a:rPr lang="en">
                <a:solidFill>
                  <a:schemeClr val="dk1"/>
                </a:solidFill>
              </a:rPr>
              <a:t>Each iteration uses tmp, which depends on the previous result, preventing instruction overlap.</a:t>
            </a:r>
            <a:endParaRPr>
              <a:solidFill>
                <a:schemeClr val="dk1"/>
              </a:solidFill>
              <a:latin typeface="Times New Roman"/>
              <a:ea typeface="Times New Roman"/>
              <a:cs typeface="Times New Roman"/>
              <a:sym typeface="Times New Roman"/>
            </a:endParaRPr>
          </a:p>
        </p:txBody>
      </p:sp>
      <p:pic>
        <p:nvPicPr>
          <p:cNvPr id="72" name="Google Shape;72;p16"/>
          <p:cNvPicPr preferRelativeResize="0"/>
          <p:nvPr/>
        </p:nvPicPr>
        <p:blipFill>
          <a:blip r:embed="rId3">
            <a:alphaModFix/>
          </a:blip>
          <a:stretch>
            <a:fillRect/>
          </a:stretch>
        </p:blipFill>
        <p:spPr>
          <a:xfrm>
            <a:off x="820500" y="719525"/>
            <a:ext cx="7657551" cy="3487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2905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320"/>
              <a:t>t</a:t>
            </a:r>
            <a:r>
              <a:rPr lang="en" sz="2320"/>
              <a:t>he benchmark env.</a:t>
            </a:r>
            <a:endParaRPr sz="2320"/>
          </a:p>
        </p:txBody>
      </p:sp>
      <p:sp>
        <p:nvSpPr>
          <p:cNvPr id="78" name="Google Shape;78;p17"/>
          <p:cNvSpPr txBox="1"/>
          <p:nvPr>
            <p:ph idx="1" type="body"/>
          </p:nvPr>
        </p:nvSpPr>
        <p:spPr>
          <a:xfrm>
            <a:off x="311700" y="1152475"/>
            <a:ext cx="30825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n" sz="1200">
                <a:solidFill>
                  <a:srgbClr val="FF0000"/>
                </a:solidFill>
              </a:rPr>
              <a:t>A NUMBER IS MEANINGLESS WITHOUT CONTEXT</a:t>
            </a:r>
            <a:endParaRPr sz="1200">
              <a:solidFill>
                <a:srgbClr val="FF0000"/>
              </a:solidFill>
            </a:endParaRPr>
          </a:p>
          <a:p>
            <a:pPr indent="0" lvl="0" marL="0" rtl="0" algn="l">
              <a:lnSpc>
                <a:spcPct val="105000"/>
              </a:lnSpc>
              <a:spcBef>
                <a:spcPts val="1200"/>
              </a:spcBef>
              <a:spcAft>
                <a:spcPts val="0"/>
              </a:spcAft>
              <a:buClr>
                <a:schemeClr val="dk1"/>
              </a:buClr>
              <a:buSzPts val="1100"/>
              <a:buFont typeface="Arial"/>
              <a:buNone/>
            </a:pPr>
            <a:r>
              <a:rPr b="1" lang="en" sz="1200">
                <a:solidFill>
                  <a:schemeClr val="dk1"/>
                </a:solidFill>
              </a:rPr>
              <a:t>Hardware Required:</a:t>
            </a:r>
            <a:endParaRPr b="1" sz="1200">
              <a:solidFill>
                <a:schemeClr val="dk1"/>
              </a:solidFill>
            </a:endParaRPr>
          </a:p>
          <a:p>
            <a:pPr indent="-304800" lvl="0" marL="457200" rtl="0" algn="l">
              <a:lnSpc>
                <a:spcPct val="105000"/>
              </a:lnSpc>
              <a:spcBef>
                <a:spcPts val="1200"/>
              </a:spcBef>
              <a:spcAft>
                <a:spcPts val="0"/>
              </a:spcAft>
              <a:buClr>
                <a:schemeClr val="dk1"/>
              </a:buClr>
              <a:buSzPts val="1200"/>
              <a:buChar char="●"/>
            </a:pPr>
            <a:r>
              <a:rPr lang="en" sz="1200">
                <a:solidFill>
                  <a:schemeClr val="dk1"/>
                </a:solidFill>
              </a:rPr>
              <a:t>Specific Microarchitecture (e.g., </a:t>
            </a:r>
            <a:r>
              <a:rPr i="1" lang="en" sz="1200">
                <a:solidFill>
                  <a:schemeClr val="dk1"/>
                </a:solidFill>
              </a:rPr>
              <a:t>i9-12900K</a:t>
            </a:r>
            <a:r>
              <a:rPr lang="en" sz="1200">
                <a:solidFill>
                  <a:schemeClr val="dk1"/>
                </a:solidFill>
              </a:rPr>
              <a:t>, not just "i7").</a:t>
            </a:r>
            <a:endParaRPr sz="1200">
              <a:solidFill>
                <a:schemeClr val="dk1"/>
              </a:solidFill>
            </a:endParaRPr>
          </a:p>
          <a:p>
            <a:pPr indent="-304800" lvl="0" marL="457200" rtl="0" algn="l">
              <a:lnSpc>
                <a:spcPct val="105000"/>
              </a:lnSpc>
              <a:spcBef>
                <a:spcPts val="0"/>
              </a:spcBef>
              <a:spcAft>
                <a:spcPts val="0"/>
              </a:spcAft>
              <a:buClr>
                <a:schemeClr val="dk1"/>
              </a:buClr>
              <a:buSzPts val="1200"/>
              <a:buChar char="●"/>
            </a:pPr>
            <a:r>
              <a:rPr lang="en" sz="1200">
                <a:solidFill>
                  <a:schemeClr val="dk1"/>
                </a:solidFill>
              </a:rPr>
              <a:t>Memory Config (</a:t>
            </a:r>
            <a:r>
              <a:rPr i="1" lang="en" sz="1200">
                <a:solidFill>
                  <a:schemeClr val="dk1"/>
                </a:solidFill>
              </a:rPr>
              <a:t>DDR5-4800</a:t>
            </a:r>
            <a:r>
              <a:rPr lang="en" sz="1200">
                <a:solidFill>
                  <a:schemeClr val="dk1"/>
                </a:solidFill>
              </a:rPr>
              <a:t>).</a:t>
            </a:r>
            <a:endParaRPr sz="12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 sz="1200">
                <a:solidFill>
                  <a:schemeClr val="dk1"/>
                </a:solidFill>
              </a:rPr>
              <a:t>Software Required:</a:t>
            </a:r>
            <a:endParaRPr b="1" sz="1200">
              <a:solidFill>
                <a:schemeClr val="dk1"/>
              </a:solidFill>
            </a:endParaRPr>
          </a:p>
          <a:p>
            <a:pPr indent="-304800" lvl="0" marL="457200" rtl="0" algn="l">
              <a:lnSpc>
                <a:spcPct val="105000"/>
              </a:lnSpc>
              <a:spcBef>
                <a:spcPts val="1200"/>
              </a:spcBef>
              <a:spcAft>
                <a:spcPts val="0"/>
              </a:spcAft>
              <a:buClr>
                <a:schemeClr val="dk1"/>
              </a:buClr>
              <a:buSzPts val="1200"/>
              <a:buChar char="●"/>
            </a:pPr>
            <a:r>
              <a:rPr lang="en" sz="1200">
                <a:solidFill>
                  <a:schemeClr val="dk1"/>
                </a:solidFill>
              </a:rPr>
              <a:t>Kernel Version (</a:t>
            </a:r>
            <a:r>
              <a:rPr lang="en" sz="1200">
                <a:solidFill>
                  <a:srgbClr val="188038"/>
                </a:solidFill>
                <a:latin typeface="Roboto Mono"/>
                <a:ea typeface="Roboto Mono"/>
                <a:cs typeface="Roboto Mono"/>
                <a:sym typeface="Roboto Mono"/>
              </a:rPr>
              <a:t>uname -r</a:t>
            </a:r>
            <a:r>
              <a:rPr lang="en" sz="1200">
                <a:solidFill>
                  <a:schemeClr val="dk1"/>
                </a:solidFill>
              </a:rPr>
              <a:t>).</a:t>
            </a:r>
            <a:endParaRPr sz="1200">
              <a:solidFill>
                <a:schemeClr val="dk1"/>
              </a:solidFill>
            </a:endParaRPr>
          </a:p>
          <a:p>
            <a:pPr indent="-304800" lvl="0" marL="457200" rtl="0" algn="l">
              <a:lnSpc>
                <a:spcPct val="105000"/>
              </a:lnSpc>
              <a:spcBef>
                <a:spcPts val="0"/>
              </a:spcBef>
              <a:spcAft>
                <a:spcPts val="0"/>
              </a:spcAft>
              <a:buClr>
                <a:schemeClr val="dk1"/>
              </a:buClr>
              <a:buSzPts val="1200"/>
              <a:buChar char="●"/>
            </a:pPr>
            <a:r>
              <a:rPr lang="en" sz="1200">
                <a:solidFill>
                  <a:schemeClr val="dk1"/>
                </a:solidFill>
              </a:rPr>
              <a:t>Compiler &amp; Flags (</a:t>
            </a:r>
            <a:r>
              <a:rPr lang="en" sz="1200">
                <a:solidFill>
                  <a:srgbClr val="188038"/>
                </a:solidFill>
                <a:latin typeface="Roboto Mono"/>
                <a:ea typeface="Roboto Mono"/>
                <a:cs typeface="Roboto Mono"/>
                <a:sym typeface="Roboto Mono"/>
              </a:rPr>
              <a:t>gcc -O3</a:t>
            </a:r>
            <a:r>
              <a:rPr lang="en" sz="1200">
                <a:solidFill>
                  <a:schemeClr val="dk1"/>
                </a:solidFill>
              </a:rPr>
              <a:t> vs </a:t>
            </a:r>
            <a:r>
              <a:rPr lang="en" sz="1200">
                <a:solidFill>
                  <a:srgbClr val="188038"/>
                </a:solidFill>
                <a:latin typeface="Roboto Mono"/>
                <a:ea typeface="Roboto Mono"/>
                <a:cs typeface="Roboto Mono"/>
                <a:sym typeface="Roboto Mono"/>
              </a:rPr>
              <a:t>-O2</a:t>
            </a:r>
            <a:r>
              <a:rPr lang="en" sz="1200">
                <a:solidFill>
                  <a:schemeClr val="dk1"/>
                </a:solidFill>
              </a:rPr>
              <a:t>).</a:t>
            </a:r>
            <a:endParaRPr sz="12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 sz="1200">
                <a:solidFill>
                  <a:schemeClr val="dk1"/>
                </a:solidFill>
              </a:rPr>
              <a:t>System State:</a:t>
            </a:r>
            <a:endParaRPr b="1" sz="1200">
              <a:solidFill>
                <a:schemeClr val="dk1"/>
              </a:solidFill>
            </a:endParaRPr>
          </a:p>
          <a:p>
            <a:pPr indent="-304800" lvl="0" marL="457200" rtl="0" algn="l">
              <a:lnSpc>
                <a:spcPct val="105000"/>
              </a:lnSpc>
              <a:spcBef>
                <a:spcPts val="1200"/>
              </a:spcBef>
              <a:spcAft>
                <a:spcPts val="0"/>
              </a:spcAft>
              <a:buClr>
                <a:schemeClr val="dk1"/>
              </a:buClr>
              <a:buSzPts val="1200"/>
              <a:buChar char="●"/>
            </a:pPr>
            <a:r>
              <a:rPr lang="en" sz="1200">
                <a:solidFill>
                  <a:schemeClr val="dk1"/>
                </a:solidFill>
              </a:rPr>
              <a:t>Turbo Boost? (Frequency noise).</a:t>
            </a:r>
            <a:endParaRPr sz="1200">
              <a:solidFill>
                <a:schemeClr val="dk1"/>
              </a:solidFill>
            </a:endParaRPr>
          </a:p>
          <a:p>
            <a:pPr indent="-304800" lvl="0" marL="457200" rtl="0" algn="l">
              <a:lnSpc>
                <a:spcPct val="105000"/>
              </a:lnSpc>
              <a:spcBef>
                <a:spcPts val="0"/>
              </a:spcBef>
              <a:spcAft>
                <a:spcPts val="0"/>
              </a:spcAft>
              <a:buClr>
                <a:schemeClr val="dk1"/>
              </a:buClr>
              <a:buSzPts val="1200"/>
              <a:buChar char="●"/>
            </a:pPr>
            <a:r>
              <a:rPr lang="en" sz="1200">
                <a:solidFill>
                  <a:schemeClr val="dk1"/>
                </a:solidFill>
              </a:rPr>
              <a:t>Background Daemons? (Dropbox, Chrome).</a:t>
            </a:r>
            <a:endParaRPr sz="1200">
              <a:solidFill>
                <a:schemeClr val="dk1"/>
              </a:solidFill>
            </a:endParaRPr>
          </a:p>
          <a:p>
            <a:pPr indent="0" lvl="0" marL="0" rtl="0" algn="l">
              <a:lnSpc>
                <a:spcPct val="105000"/>
              </a:lnSpc>
              <a:spcBef>
                <a:spcPts val="1200"/>
              </a:spcBef>
              <a:spcAft>
                <a:spcPts val="1200"/>
              </a:spcAft>
              <a:buNone/>
            </a:pPr>
            <a:r>
              <a:t/>
            </a:r>
            <a:endParaRPr sz="1900"/>
          </a:p>
        </p:txBody>
      </p:sp>
      <p:pic>
        <p:nvPicPr>
          <p:cNvPr id="79" name="Google Shape;79;p17"/>
          <p:cNvPicPr preferRelativeResize="0"/>
          <p:nvPr/>
        </p:nvPicPr>
        <p:blipFill rotWithShape="1">
          <a:blip r:embed="rId3">
            <a:alphaModFix/>
          </a:blip>
          <a:srcRect b="0" l="0" r="32746" t="0"/>
          <a:stretch/>
        </p:blipFill>
        <p:spPr>
          <a:xfrm>
            <a:off x="3394200" y="150475"/>
            <a:ext cx="5551498" cy="4905015"/>
          </a:xfrm>
          <a:prstGeom prst="rect">
            <a:avLst/>
          </a:prstGeom>
          <a:noFill/>
          <a:ln>
            <a:noFill/>
          </a:ln>
        </p:spPr>
      </p:pic>
      <p:sp>
        <p:nvSpPr>
          <p:cNvPr id="80" name="Google Shape;80;p17"/>
          <p:cNvSpPr/>
          <p:nvPr/>
        </p:nvSpPr>
        <p:spPr>
          <a:xfrm>
            <a:off x="3507010" y="3213415"/>
            <a:ext cx="2012700" cy="101400"/>
          </a:xfrm>
          <a:prstGeom prst="rect">
            <a:avLst/>
          </a:prstGeom>
          <a:noFill/>
          <a:ln cap="flat" cmpd="sng" w="10075">
            <a:solidFill>
              <a:srgbClr val="FF0000"/>
            </a:solidFill>
            <a:prstDash val="solid"/>
            <a:round/>
            <a:headEnd len="sm" w="sm" type="none"/>
            <a:tailEnd len="sm" w="sm" type="none"/>
          </a:ln>
        </p:spPr>
        <p:txBody>
          <a:bodyPr anchorCtr="0" anchor="ctr" bIns="96600" lIns="96600" spcFirstLastPara="1" rIns="96600" wrap="square" tIns="96600">
            <a:noAutofit/>
          </a:bodyPr>
          <a:lstStyle/>
          <a:p>
            <a:pPr indent="0" lvl="0" marL="0" rtl="0" algn="ctr">
              <a:spcBef>
                <a:spcPts val="0"/>
              </a:spcBef>
              <a:spcAft>
                <a:spcPts val="0"/>
              </a:spcAft>
              <a:buNone/>
            </a:pPr>
            <a:r>
              <a:t/>
            </a:r>
            <a:endParaRPr sz="1479"/>
          </a:p>
        </p:txBody>
      </p:sp>
      <p:sp>
        <p:nvSpPr>
          <p:cNvPr id="81" name="Google Shape;81;p17"/>
          <p:cNvSpPr/>
          <p:nvPr/>
        </p:nvSpPr>
        <p:spPr>
          <a:xfrm>
            <a:off x="3421868" y="427812"/>
            <a:ext cx="3162000" cy="359400"/>
          </a:xfrm>
          <a:prstGeom prst="rect">
            <a:avLst/>
          </a:prstGeom>
          <a:noFill/>
          <a:ln cap="flat" cmpd="sng" w="10075">
            <a:solidFill>
              <a:srgbClr val="FF0000"/>
            </a:solidFill>
            <a:prstDash val="solid"/>
            <a:round/>
            <a:headEnd len="sm" w="sm" type="none"/>
            <a:tailEnd len="sm" w="sm" type="none"/>
          </a:ln>
        </p:spPr>
        <p:txBody>
          <a:bodyPr anchorCtr="0" anchor="ctr" bIns="96600" lIns="96600" spcFirstLastPara="1" rIns="96600" wrap="square" tIns="96600">
            <a:noAutofit/>
          </a:bodyPr>
          <a:lstStyle/>
          <a:p>
            <a:pPr indent="0" lvl="0" marL="0" rtl="0" algn="ctr">
              <a:spcBef>
                <a:spcPts val="0"/>
              </a:spcBef>
              <a:spcAft>
                <a:spcPts val="0"/>
              </a:spcAft>
              <a:buNone/>
            </a:pPr>
            <a:r>
              <a:t/>
            </a:r>
            <a:endParaRPr sz="1479"/>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t>
            </a:r>
            <a:r>
              <a:rPr lang="en"/>
              <a:t>all clock vs monotonic clock</a:t>
            </a:r>
            <a:endParaRPr/>
          </a:p>
        </p:txBody>
      </p:sp>
      <p:sp>
        <p:nvSpPr>
          <p:cNvPr id="87" name="Google Shape;87;p18"/>
          <p:cNvSpPr txBox="1"/>
          <p:nvPr>
            <p:ph idx="1" type="body"/>
          </p:nvPr>
        </p:nvSpPr>
        <p:spPr>
          <a:xfrm>
            <a:off x="311700" y="1163567"/>
            <a:ext cx="3857700" cy="401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wall clock </a:t>
            </a:r>
            <a:r>
              <a:rPr b="1" lang="en">
                <a:solidFill>
                  <a:schemeClr val="dk1"/>
                </a:solidFill>
              </a:rPr>
              <a:t> ❌</a:t>
            </a:r>
            <a:endParaRPr b="1">
              <a:solidFill>
                <a:schemeClr val="dk1"/>
              </a:solidFill>
            </a:endParaRPr>
          </a:p>
          <a:p>
            <a:pPr indent="0" lvl="0" marL="0" rtl="0" algn="l">
              <a:spcBef>
                <a:spcPts val="1200"/>
              </a:spcBef>
              <a:spcAft>
                <a:spcPts val="0"/>
              </a:spcAft>
              <a:buNone/>
            </a:pPr>
            <a:r>
              <a:rPr lang="en" sz="1300">
                <a:solidFill>
                  <a:srgbClr val="188038"/>
                </a:solidFill>
                <a:latin typeface="Roboto Mono"/>
                <a:ea typeface="Roboto Mono"/>
                <a:cs typeface="Roboto Mono"/>
                <a:sym typeface="Roboto Mono"/>
              </a:rPr>
              <a:t>time.time()</a:t>
            </a:r>
            <a:r>
              <a:rPr lang="en" sz="1300">
                <a:solidFill>
                  <a:schemeClr val="dk1"/>
                </a:solidFill>
              </a:rPr>
              <a:t>, </a:t>
            </a:r>
            <a:r>
              <a:rPr lang="en" sz="1300">
                <a:solidFill>
                  <a:srgbClr val="188038"/>
                </a:solidFill>
                <a:latin typeface="Roboto Mono"/>
                <a:ea typeface="Roboto Mono"/>
                <a:cs typeface="Roboto Mono"/>
                <a:sym typeface="Roboto Mono"/>
              </a:rPr>
              <a:t>gettimeofday()</a:t>
            </a:r>
            <a:endParaRPr>
              <a:solidFill>
                <a:schemeClr val="dk1"/>
              </a:solidFill>
            </a:endParaRPr>
          </a:p>
          <a:p>
            <a:pPr indent="0" lvl="0" marL="0" rtl="0" algn="l">
              <a:spcBef>
                <a:spcPts val="1200"/>
              </a:spcBef>
              <a:spcAft>
                <a:spcPts val="0"/>
              </a:spcAft>
              <a:buNone/>
            </a:pPr>
            <a:r>
              <a:rPr b="1" lang="en" sz="1300">
                <a:solidFill>
                  <a:schemeClr val="dk1"/>
                </a:solidFill>
              </a:rPr>
              <a:t>Purpose:</a:t>
            </a:r>
            <a:r>
              <a:rPr lang="en" sz="1300">
                <a:solidFill>
                  <a:schemeClr val="dk1"/>
                </a:solidFill>
              </a:rPr>
              <a:t> Telling humans "It is 12:00 PM."</a:t>
            </a:r>
            <a:endParaRPr sz="1300">
              <a:solidFill>
                <a:schemeClr val="dk1"/>
              </a:solidFill>
            </a:endParaRPr>
          </a:p>
          <a:p>
            <a:pPr indent="0" lvl="0" marL="0" rtl="0" algn="l">
              <a:spcBef>
                <a:spcPts val="1200"/>
              </a:spcBef>
              <a:spcAft>
                <a:spcPts val="0"/>
              </a:spcAft>
              <a:buNone/>
            </a:pPr>
            <a:r>
              <a:rPr b="1" lang="en" sz="1300">
                <a:solidFill>
                  <a:schemeClr val="dk1"/>
                </a:solidFill>
              </a:rPr>
              <a:t>Mechanism:</a:t>
            </a:r>
            <a:r>
              <a:rPr lang="en" sz="1300">
                <a:solidFill>
                  <a:schemeClr val="dk1"/>
                </a:solidFill>
              </a:rPr>
              <a:t> Syncs with the Internet (NTP).</a:t>
            </a:r>
            <a:endParaRPr sz="1300">
              <a:solidFill>
                <a:schemeClr val="dk1"/>
              </a:solidFill>
            </a:endParaRPr>
          </a:p>
          <a:p>
            <a:pPr indent="0" lvl="0" marL="0" rtl="0" algn="l">
              <a:spcBef>
                <a:spcPts val="1200"/>
              </a:spcBef>
              <a:spcAft>
                <a:spcPts val="0"/>
              </a:spcAft>
              <a:buNone/>
            </a:pPr>
            <a:r>
              <a:rPr b="1" lang="en" sz="1300">
                <a:solidFill>
                  <a:schemeClr val="dk1"/>
                </a:solidFill>
              </a:rPr>
              <a:t>Fatal Flaw:</a:t>
            </a:r>
            <a:r>
              <a:rPr lang="en" sz="1300">
                <a:solidFill>
                  <a:schemeClr val="dk1"/>
                </a:solidFill>
              </a:rPr>
              <a:t> It can jump backwards.</a:t>
            </a:r>
            <a:endParaRPr sz="1300">
              <a:solidFill>
                <a:schemeClr val="dk1"/>
              </a:solidFill>
            </a:endParaRPr>
          </a:p>
          <a:p>
            <a:pPr indent="0" lvl="0" marL="0" rtl="0" algn="l">
              <a:spcBef>
                <a:spcPts val="1200"/>
              </a:spcBef>
              <a:spcAft>
                <a:spcPts val="0"/>
              </a:spcAft>
              <a:buNone/>
            </a:pPr>
            <a:r>
              <a:rPr i="1" lang="en" sz="1300">
                <a:solidFill>
                  <a:srgbClr val="1155CC"/>
                </a:solidFill>
              </a:rPr>
              <a:t>Scenario:</a:t>
            </a:r>
            <a:r>
              <a:rPr lang="en" sz="1300">
                <a:solidFill>
                  <a:srgbClr val="1155CC"/>
                </a:solidFill>
              </a:rPr>
              <a:t> If your internal clock is fast (12:01) and the internet server says "No, it's 12:00," your OS resets the time back by one minute.</a:t>
            </a:r>
            <a:endParaRPr sz="1300">
              <a:solidFill>
                <a:srgbClr val="1155CC"/>
              </a:solidFill>
            </a:endParaRPr>
          </a:p>
          <a:p>
            <a:pPr indent="0" lvl="0" marL="0" rtl="0" algn="l">
              <a:spcBef>
                <a:spcPts val="1200"/>
              </a:spcBef>
              <a:spcAft>
                <a:spcPts val="0"/>
              </a:spcAft>
              <a:buNone/>
            </a:pPr>
            <a:r>
              <a:rPr i="1" lang="en" sz="1300">
                <a:solidFill>
                  <a:srgbClr val="1155CC"/>
                </a:solidFill>
              </a:rPr>
              <a:t>Result:</a:t>
            </a:r>
            <a:r>
              <a:rPr lang="en" sz="1300">
                <a:solidFill>
                  <a:srgbClr val="1155CC"/>
                </a:solidFill>
              </a:rPr>
              <a:t> Your benchmark duration becomes </a:t>
            </a:r>
            <a:r>
              <a:rPr b="1" lang="en" sz="1300">
                <a:solidFill>
                  <a:srgbClr val="1155CC"/>
                </a:solidFill>
              </a:rPr>
              <a:t>negative</a:t>
            </a:r>
            <a:r>
              <a:rPr lang="en" sz="1300">
                <a:solidFill>
                  <a:srgbClr val="1155CC"/>
                </a:solidFill>
              </a:rPr>
              <a:t> (-59 seconds). This destroys your data.</a:t>
            </a:r>
            <a:endParaRPr sz="1300">
              <a:solidFill>
                <a:srgbClr val="1155CC"/>
              </a:solidFill>
            </a:endParaRPr>
          </a:p>
          <a:p>
            <a:pPr indent="0" lvl="0" marL="0" rtl="0" algn="l">
              <a:spcBef>
                <a:spcPts val="1200"/>
              </a:spcBef>
              <a:spcAft>
                <a:spcPts val="1200"/>
              </a:spcAft>
              <a:buNone/>
            </a:pPr>
            <a:r>
              <a:t/>
            </a:r>
            <a:endParaRPr>
              <a:solidFill>
                <a:schemeClr val="dk1"/>
              </a:solidFill>
            </a:endParaRPr>
          </a:p>
        </p:txBody>
      </p:sp>
      <p:sp>
        <p:nvSpPr>
          <p:cNvPr id="88" name="Google Shape;88;p18"/>
          <p:cNvSpPr txBox="1"/>
          <p:nvPr/>
        </p:nvSpPr>
        <p:spPr>
          <a:xfrm>
            <a:off x="4346725" y="1097100"/>
            <a:ext cx="4696200" cy="3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rPr>
              <a:t>m</a:t>
            </a:r>
            <a:r>
              <a:rPr b="1" lang="en" sz="1800">
                <a:solidFill>
                  <a:schemeClr val="dk1"/>
                </a:solidFill>
              </a:rPr>
              <a:t>onotonic clock ✅</a:t>
            </a:r>
            <a:endParaRPr b="1" sz="1800">
              <a:solidFill>
                <a:schemeClr val="dk1"/>
              </a:solidFill>
            </a:endParaRPr>
          </a:p>
          <a:p>
            <a:pPr indent="0" lvl="0" marL="0" rtl="0" algn="l">
              <a:lnSpc>
                <a:spcPct val="115000"/>
              </a:lnSpc>
              <a:spcBef>
                <a:spcPts val="0"/>
              </a:spcBef>
              <a:spcAft>
                <a:spcPts val="0"/>
              </a:spcAft>
              <a:buNone/>
            </a:pPr>
            <a:r>
              <a:t/>
            </a:r>
            <a:endParaRPr b="1" sz="1800">
              <a:solidFill>
                <a:schemeClr val="dk1"/>
              </a:solidFill>
            </a:endParaRPr>
          </a:p>
          <a:p>
            <a:pPr indent="0" lvl="0" marL="0" rtl="0" algn="l">
              <a:lnSpc>
                <a:spcPct val="115000"/>
              </a:lnSpc>
              <a:spcBef>
                <a:spcPts val="0"/>
              </a:spcBef>
              <a:spcAft>
                <a:spcPts val="0"/>
              </a:spcAft>
              <a:buNone/>
            </a:pPr>
            <a:r>
              <a:rPr lang="en" sz="1300">
                <a:solidFill>
                  <a:srgbClr val="188038"/>
                </a:solidFill>
                <a:latin typeface="Roboto Mono"/>
                <a:ea typeface="Roboto Mono"/>
                <a:cs typeface="Roboto Mono"/>
                <a:sym typeface="Roboto Mono"/>
              </a:rPr>
              <a:t>std::chrono::steady_clock</a:t>
            </a:r>
            <a:r>
              <a:rPr lang="en" sz="1300">
                <a:solidFill>
                  <a:schemeClr val="dk1"/>
                </a:solidFill>
              </a:rPr>
              <a:t>, </a:t>
            </a:r>
            <a:r>
              <a:rPr lang="en" sz="1300">
                <a:solidFill>
                  <a:srgbClr val="188038"/>
                </a:solidFill>
                <a:latin typeface="Roboto Mono"/>
                <a:ea typeface="Roboto Mono"/>
                <a:cs typeface="Roboto Mono"/>
                <a:sym typeface="Roboto Mono"/>
              </a:rPr>
              <a:t>CLOCK_MONOTONIC</a:t>
            </a:r>
            <a:r>
              <a:rPr lang="en" sz="1300">
                <a:solidFill>
                  <a:schemeClr val="dk1"/>
                </a:solidFill>
              </a:rPr>
              <a:t>.</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b="1" lang="en" sz="1300">
                <a:solidFill>
                  <a:schemeClr val="dk1"/>
                </a:solidFill>
              </a:rPr>
              <a:t>Purpose:</a:t>
            </a:r>
            <a:r>
              <a:rPr lang="en" sz="1300">
                <a:solidFill>
                  <a:schemeClr val="dk1"/>
                </a:solidFill>
              </a:rPr>
              <a:t> Measuring </a:t>
            </a:r>
            <a:r>
              <a:rPr b="1" lang="en" sz="1300">
                <a:solidFill>
                  <a:schemeClr val="dk1"/>
                </a:solidFill>
              </a:rPr>
              <a:t>Intervals</a:t>
            </a:r>
            <a:r>
              <a:rPr lang="en" sz="1300">
                <a:solidFill>
                  <a:schemeClr val="dk1"/>
                </a:solidFill>
              </a:rPr>
              <a:t> (Duration).</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b="1" lang="en" sz="1300">
                <a:solidFill>
                  <a:schemeClr val="dk1"/>
                </a:solidFill>
              </a:rPr>
              <a:t>Mechanism:</a:t>
            </a:r>
            <a:r>
              <a:rPr lang="en" sz="1300">
                <a:solidFill>
                  <a:schemeClr val="dk1"/>
                </a:solidFill>
              </a:rPr>
              <a:t> Counts hardware "ticks" from the moment the system boots up.</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b="1" lang="en" sz="1300">
                <a:solidFill>
                  <a:schemeClr val="dk1"/>
                </a:solidFill>
              </a:rPr>
              <a:t>Guarantee:</a:t>
            </a:r>
            <a:r>
              <a:rPr lang="en" sz="1300">
                <a:solidFill>
                  <a:schemeClr val="dk1"/>
                </a:solidFill>
              </a:rPr>
              <a:t> It never decreases, only goes up.</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b="1" lang="en" sz="1300">
                <a:solidFill>
                  <a:schemeClr val="dk1"/>
                </a:solidFill>
              </a:rPr>
              <a:t>Resolution:</a:t>
            </a:r>
            <a:r>
              <a:rPr lang="en" sz="1300">
                <a:solidFill>
                  <a:schemeClr val="dk1"/>
                </a:solidFill>
              </a:rPr>
              <a:t> Nanoseconds (vs Milliseconds for Wall Clock).</a:t>
            </a:r>
            <a:endParaRPr sz="13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measure performance and present results</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C</a:t>
            </a:r>
            <a:r>
              <a:rPr lang="en">
                <a:solidFill>
                  <a:schemeClr val="dk1"/>
                </a:solidFill>
              </a:rPr>
              <a:t>orrectness is not enough. Being efficient is also important.</a:t>
            </a:r>
            <a:endParaRPr>
              <a:solidFill>
                <a:schemeClr val="dk1"/>
              </a:solidFill>
            </a:endParaRPr>
          </a:p>
          <a:p>
            <a:pPr indent="0" lvl="0" marL="0" rtl="0" algn="l">
              <a:spcBef>
                <a:spcPts val="1200"/>
              </a:spcBef>
              <a:spcAft>
                <a:spcPts val="0"/>
              </a:spcAft>
              <a:buNone/>
            </a:pPr>
            <a:r>
              <a:rPr lang="en">
                <a:solidFill>
                  <a:schemeClr val="dk1"/>
                </a:solidFill>
              </a:rPr>
              <a:t>Performance depends on many external factors. Numbers are meaningless w</a:t>
            </a:r>
            <a:r>
              <a:rPr lang="en">
                <a:solidFill>
                  <a:schemeClr val="dk1"/>
                </a:solidFill>
              </a:rPr>
              <a:t>ithout context.</a:t>
            </a:r>
            <a:endParaRPr>
              <a:solidFill>
                <a:schemeClr val="dk1"/>
              </a:solidFill>
            </a:endParaRPr>
          </a:p>
          <a:p>
            <a:pPr indent="0" lvl="0" marL="0" rtl="0" algn="l">
              <a:spcBef>
                <a:spcPts val="1200"/>
              </a:spcBef>
              <a:spcAft>
                <a:spcPts val="0"/>
              </a:spcAft>
              <a:buNone/>
            </a:pPr>
            <a:r>
              <a:rPr lang="en">
                <a:solidFill>
                  <a:schemeClr val="dk1"/>
                </a:solidFill>
              </a:rPr>
              <a:t>Runtime depends on many factors.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Hardware configuration</a:t>
            </a:r>
            <a:endParaRPr/>
          </a:p>
        </p:txBody>
      </p:sp>
      <p:sp>
        <p:nvSpPr>
          <p:cNvPr id="100" name="Google Shape;100;p20"/>
          <p:cNvSpPr txBox="1"/>
          <p:nvPr>
            <p:ph idx="1" type="body"/>
          </p:nvPr>
        </p:nvSpPr>
        <p:spPr>
          <a:xfrm>
            <a:off x="311700" y="1152475"/>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CPU: executes instructions like math operations, memory access, etc, basically controls everything</a:t>
            </a:r>
            <a:endParaRPr>
              <a:solidFill>
                <a:schemeClr val="dk1"/>
              </a:solidFill>
            </a:endParaRPr>
          </a:p>
          <a:p>
            <a:pPr indent="0" lvl="0" marL="0" rtl="0" algn="l">
              <a:spcBef>
                <a:spcPts val="1200"/>
              </a:spcBef>
              <a:spcAft>
                <a:spcPts val="0"/>
              </a:spcAft>
              <a:buNone/>
            </a:pPr>
            <a:r>
              <a:rPr lang="en">
                <a:solidFill>
                  <a:schemeClr val="dk1"/>
                </a:solidFill>
              </a:rPr>
              <a:t>Clock speed: cycles per second, </a:t>
            </a:r>
            <a:r>
              <a:rPr lang="en">
                <a:solidFill>
                  <a:schemeClr val="dk1"/>
                </a:solidFill>
              </a:rPr>
              <a:t>directly</a:t>
            </a:r>
            <a:r>
              <a:rPr lang="en">
                <a:solidFill>
                  <a:schemeClr val="dk1"/>
                </a:solidFill>
              </a:rPr>
              <a:t> increasing code performance, e.g. 3 GHz CPU means 3 billion cycles per second, the more it has the less time it would take </a:t>
            </a:r>
            <a:endParaRPr>
              <a:solidFill>
                <a:schemeClr val="dk1"/>
              </a:solidFill>
            </a:endParaRPr>
          </a:p>
          <a:p>
            <a:pPr indent="0" lvl="0" marL="0" rtl="0" algn="l">
              <a:spcBef>
                <a:spcPts val="1200"/>
              </a:spcBef>
              <a:spcAft>
                <a:spcPts val="0"/>
              </a:spcAft>
              <a:buNone/>
            </a:pPr>
            <a:r>
              <a:rPr lang="en">
                <a:solidFill>
                  <a:schemeClr val="dk1"/>
                </a:solidFill>
              </a:rPr>
              <a:t>Core number: really important for parallel program, </a:t>
            </a:r>
            <a:r>
              <a:rPr lang="en">
                <a:solidFill>
                  <a:schemeClr val="dk1"/>
                </a:solidFill>
              </a:rPr>
              <a:t>divide</a:t>
            </a:r>
            <a:r>
              <a:rPr lang="en">
                <a:solidFill>
                  <a:schemeClr val="dk1"/>
                </a:solidFill>
              </a:rPr>
              <a:t> works among cores, e.g. 8 cores means each does </a:t>
            </a:r>
            <a:r>
              <a:rPr lang="en">
                <a:solidFill>
                  <a:schemeClr val="dk1"/>
                </a:solidFill>
              </a:rPr>
              <a:t>1/8</a:t>
            </a:r>
            <a:r>
              <a:rPr lang="en">
                <a:solidFill>
                  <a:schemeClr val="dk1"/>
                </a:solidFill>
              </a:rPr>
              <a:t> of the total work</a:t>
            </a:r>
            <a:endParaRPr>
              <a:solidFill>
                <a:schemeClr val="dk1"/>
              </a:solidFill>
            </a:endParaRPr>
          </a:p>
          <a:p>
            <a:pPr indent="0" lvl="0" marL="0" rtl="0" algn="l">
              <a:spcBef>
                <a:spcPts val="1200"/>
              </a:spcBef>
              <a:spcAft>
                <a:spcPts val="0"/>
              </a:spcAft>
              <a:buNone/>
            </a:pPr>
            <a:r>
              <a:rPr lang="en">
                <a:solidFill>
                  <a:schemeClr val="dk1"/>
                </a:solidFill>
              </a:rPr>
              <a:t>Cache: temporary </a:t>
            </a:r>
            <a:r>
              <a:rPr lang="en">
                <a:solidFill>
                  <a:schemeClr val="dk1"/>
                </a:solidFill>
              </a:rPr>
              <a:t>storage for frequent access</a:t>
            </a:r>
            <a:endParaRPr>
              <a:solidFill>
                <a:schemeClr val="dk1"/>
              </a:solidFill>
            </a:endParaRPr>
          </a:p>
          <a:p>
            <a:pPr indent="0" lvl="0" marL="0" rtl="0" algn="l">
              <a:spcBef>
                <a:spcPts val="1200"/>
              </a:spcBef>
              <a:spcAft>
                <a:spcPts val="0"/>
              </a:spcAft>
              <a:buNone/>
            </a:pPr>
            <a:r>
              <a:rPr lang="en">
                <a:solidFill>
                  <a:schemeClr val="dk1"/>
                </a:solidFill>
              </a:rPr>
              <a:t>RAM: slow memory, storage for program data, </a:t>
            </a:r>
            <a:r>
              <a:rPr lang="en">
                <a:solidFill>
                  <a:schemeClr val="dk1"/>
                </a:solidFill>
                <a:highlight>
                  <a:srgbClr val="FFFFFF"/>
                </a:highlight>
              </a:rPr>
              <a:t> determines how much data and how many programs your computer can keep readily accessible for the CPU. </a:t>
            </a:r>
            <a:endParaRPr>
              <a:solidFill>
                <a:schemeClr val="dk1"/>
              </a:solidFill>
            </a:endParaRPr>
          </a:p>
          <a:p>
            <a:pPr indent="0" lvl="0" marL="0" rtl="0" algn="l">
              <a:spcBef>
                <a:spcPts val="1200"/>
              </a:spcBef>
              <a:spcAft>
                <a:spcPts val="1200"/>
              </a:spcAft>
              <a:buNone/>
            </a:pPr>
            <a:r>
              <a:rPr lang="en">
                <a:solidFill>
                  <a:schemeClr val="dk1"/>
                </a:solidFill>
              </a:rPr>
              <a:t>Key point: hardware determines performance capability</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Software configuration</a:t>
            </a:r>
            <a:endParaRPr/>
          </a:p>
        </p:txBody>
      </p:sp>
      <p:sp>
        <p:nvSpPr>
          <p:cNvPr id="106" name="Google Shape;106;p21"/>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Compiler: converts code into machine instructions, managing things such as instructions, registers, loops, can be inefficient without proper optimizations such as remove </a:t>
            </a:r>
            <a:r>
              <a:rPr lang="en">
                <a:solidFill>
                  <a:schemeClr val="dk1"/>
                </a:solidFill>
              </a:rPr>
              <a:t>unnecessary</a:t>
            </a:r>
            <a:r>
              <a:rPr lang="en">
                <a:solidFill>
                  <a:schemeClr val="dk1"/>
                </a:solidFill>
              </a:rPr>
              <a:t> instructions, reduce memory access, uses less CPU cycles</a:t>
            </a:r>
            <a:endParaRPr>
              <a:solidFill>
                <a:schemeClr val="dk1"/>
              </a:solidFill>
            </a:endParaRPr>
          </a:p>
          <a:p>
            <a:pPr indent="0" lvl="0" marL="0" rtl="0" algn="l">
              <a:spcBef>
                <a:spcPts val="1200"/>
              </a:spcBef>
              <a:spcAft>
                <a:spcPts val="0"/>
              </a:spcAft>
              <a:buNone/>
            </a:pPr>
            <a:r>
              <a:rPr lang="en">
                <a:solidFill>
                  <a:schemeClr val="dk1"/>
                </a:solidFill>
              </a:rPr>
              <a:t>Operating system: handles stuff like memory </a:t>
            </a:r>
            <a:r>
              <a:rPr lang="en">
                <a:solidFill>
                  <a:schemeClr val="dk1"/>
                </a:solidFill>
              </a:rPr>
              <a:t>management</a:t>
            </a:r>
            <a:r>
              <a:rPr lang="en">
                <a:solidFill>
                  <a:schemeClr val="dk1"/>
                </a:solidFill>
              </a:rPr>
              <a:t>, scheduling, thread, system call, different OS handle these differently</a:t>
            </a:r>
            <a:endParaRPr>
              <a:solidFill>
                <a:schemeClr val="dk1"/>
              </a:solidFill>
            </a:endParaRPr>
          </a:p>
          <a:p>
            <a:pPr indent="0" lvl="0" marL="0" rtl="0" algn="l">
              <a:spcBef>
                <a:spcPts val="1200"/>
              </a:spcBef>
              <a:spcAft>
                <a:spcPts val="0"/>
              </a:spcAft>
              <a:buNone/>
            </a:pPr>
            <a:r>
              <a:rPr lang="en">
                <a:solidFill>
                  <a:schemeClr val="dk1"/>
                </a:solidFill>
              </a:rPr>
              <a:t>Libraries: libraries themselves provides optimized algorithms, different libraries worked differently, e.g. dynamic libraries, static libraries</a:t>
            </a:r>
            <a:endParaRPr>
              <a:solidFill>
                <a:schemeClr val="dk1"/>
              </a:solidFill>
            </a:endParaRPr>
          </a:p>
          <a:p>
            <a:pPr indent="0" lvl="0" marL="0" rtl="0" algn="l">
              <a:spcBef>
                <a:spcPts val="1200"/>
              </a:spcBef>
              <a:spcAft>
                <a:spcPts val="1200"/>
              </a:spcAft>
              <a:buNone/>
            </a:pPr>
            <a:r>
              <a:rPr lang="en">
                <a:solidFill>
                  <a:schemeClr val="dk1"/>
                </a:solidFill>
              </a:rPr>
              <a:t>Key point: software determines how efficiently hardware is used</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state</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rPr>
              <a:t>Would affect performance through a few ways</a:t>
            </a:r>
            <a:endParaRPr>
              <a:solidFill>
                <a:schemeClr val="dk1"/>
              </a:solidFill>
            </a:endParaRPr>
          </a:p>
          <a:p>
            <a:pPr indent="0" lvl="0" marL="0" rtl="0" algn="l">
              <a:spcBef>
                <a:spcPts val="1200"/>
              </a:spcBef>
              <a:spcAft>
                <a:spcPts val="0"/>
              </a:spcAft>
              <a:buNone/>
            </a:pPr>
            <a:r>
              <a:rPr lang="en">
                <a:solidFill>
                  <a:schemeClr val="dk1"/>
                </a:solidFill>
              </a:rPr>
              <a:t>Background programs: the less the best</a:t>
            </a:r>
            <a:endParaRPr>
              <a:solidFill>
                <a:schemeClr val="dk1"/>
              </a:solidFill>
            </a:endParaRPr>
          </a:p>
          <a:p>
            <a:pPr indent="0" lvl="0" marL="0" rtl="0" algn="l">
              <a:spcBef>
                <a:spcPts val="1200"/>
              </a:spcBef>
              <a:spcAft>
                <a:spcPts val="0"/>
              </a:spcAft>
              <a:buNone/>
            </a:pPr>
            <a:r>
              <a:rPr lang="en">
                <a:solidFill>
                  <a:schemeClr val="dk1"/>
                </a:solidFill>
              </a:rPr>
              <a:t>Cache </a:t>
            </a:r>
            <a:r>
              <a:rPr lang="en">
                <a:solidFill>
                  <a:schemeClr val="dk1"/>
                </a:solidFill>
              </a:rPr>
              <a:t>interference: cache races, multiple processes compete for limited shared cache capacity, overwrite and reload of cache</a:t>
            </a:r>
            <a:endParaRPr>
              <a:solidFill>
                <a:schemeClr val="dk1"/>
              </a:solidFill>
            </a:endParaRPr>
          </a:p>
          <a:p>
            <a:pPr indent="0" lvl="0" marL="0" rtl="0" algn="l">
              <a:spcBef>
                <a:spcPts val="1200"/>
              </a:spcBef>
              <a:spcAft>
                <a:spcPts val="0"/>
              </a:spcAft>
              <a:buNone/>
            </a:pPr>
            <a:r>
              <a:rPr lang="en">
                <a:solidFill>
                  <a:schemeClr val="dk1"/>
                </a:solidFill>
              </a:rPr>
              <a:t>S</a:t>
            </a:r>
            <a:r>
              <a:rPr lang="en">
                <a:solidFill>
                  <a:schemeClr val="dk1"/>
                </a:solidFill>
              </a:rPr>
              <a:t>ystem load causes i</a:t>
            </a:r>
            <a:r>
              <a:rPr lang="en">
                <a:solidFill>
                  <a:schemeClr val="dk1"/>
                </a:solidFill>
              </a:rPr>
              <a:t>nconsistent results: resource contention, forcing processes to wait for CPU time, if system load changes then available CPU change</a:t>
            </a:r>
            <a:endParaRPr>
              <a:solidFill>
                <a:schemeClr val="dk1"/>
              </a:solidFill>
            </a:endParaRPr>
          </a:p>
          <a:p>
            <a:pPr indent="0" lvl="0" marL="0" rtl="0" algn="l">
              <a:spcBef>
                <a:spcPts val="1200"/>
              </a:spcBef>
              <a:spcAft>
                <a:spcPts val="0"/>
              </a:spcAft>
              <a:buNone/>
            </a:pPr>
            <a:r>
              <a:rPr lang="en">
                <a:solidFill>
                  <a:schemeClr val="dk1"/>
                </a:solidFill>
              </a:rPr>
              <a:t>Multiple runs is needed:dealing with noise sources such as OS scheduling, cache </a:t>
            </a:r>
            <a:r>
              <a:rPr lang="en">
                <a:solidFill>
                  <a:schemeClr val="dk1"/>
                </a:solidFill>
              </a:rPr>
              <a:t>state, </a:t>
            </a:r>
            <a:r>
              <a:rPr lang="en">
                <a:solidFill>
                  <a:schemeClr val="dk1"/>
                </a:solidFill>
              </a:rPr>
              <a:t>background activity</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point: why they matter</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chemeClr val="dk1"/>
                </a:solidFill>
              </a:rPr>
              <a:t>H</a:t>
            </a:r>
            <a:r>
              <a:rPr lang="en">
                <a:solidFill>
                  <a:schemeClr val="dk1"/>
                </a:solidFill>
              </a:rPr>
              <a:t>ardware configuration, software configuration and system state must be reported.</a:t>
            </a:r>
            <a:endParaRPr>
              <a:solidFill>
                <a:schemeClr val="dk1"/>
              </a:solidFill>
            </a:endParaRPr>
          </a:p>
          <a:p>
            <a:pPr indent="0" lvl="0" marL="0" rtl="0" algn="l">
              <a:spcBef>
                <a:spcPts val="1200"/>
              </a:spcBef>
              <a:spcAft>
                <a:spcPts val="0"/>
              </a:spcAft>
              <a:buNone/>
            </a:pPr>
            <a:r>
              <a:rPr lang="en">
                <a:solidFill>
                  <a:schemeClr val="dk1"/>
                </a:solidFill>
              </a:rPr>
              <a:t>H</a:t>
            </a:r>
            <a:r>
              <a:rPr lang="en">
                <a:solidFill>
                  <a:schemeClr val="dk1"/>
                </a:solidFill>
              </a:rPr>
              <a:t>ardware determines how fast instructions can execute.</a:t>
            </a:r>
            <a:endParaRPr>
              <a:solidFill>
                <a:schemeClr val="dk1"/>
              </a:solidFill>
            </a:endParaRPr>
          </a:p>
          <a:p>
            <a:pPr indent="0" lvl="0" marL="0" rtl="0" algn="l">
              <a:spcBef>
                <a:spcPts val="1200"/>
              </a:spcBef>
              <a:spcAft>
                <a:spcPts val="0"/>
              </a:spcAft>
              <a:buNone/>
            </a:pPr>
            <a:r>
              <a:rPr lang="en">
                <a:solidFill>
                  <a:schemeClr val="dk1"/>
                </a:solidFill>
              </a:rPr>
              <a:t>Software determines how efficiently hardware is used.</a:t>
            </a:r>
            <a:endParaRPr>
              <a:solidFill>
                <a:schemeClr val="dk1"/>
              </a:solidFill>
            </a:endParaRPr>
          </a:p>
          <a:p>
            <a:pPr indent="0" lvl="0" marL="0" rtl="0" algn="l">
              <a:spcBef>
                <a:spcPts val="1200"/>
              </a:spcBef>
              <a:spcAft>
                <a:spcPts val="0"/>
              </a:spcAft>
              <a:buNone/>
            </a:pPr>
            <a:r>
              <a:rPr lang="en">
                <a:solidFill>
                  <a:schemeClr val="dk1"/>
                </a:solidFill>
              </a:rPr>
              <a:t>System state affects measurement accuracy.</a:t>
            </a:r>
            <a:endParaRPr>
              <a:solidFill>
                <a:schemeClr val="dk1"/>
              </a:solidFill>
            </a:endParaRPr>
          </a:p>
          <a:p>
            <a:pPr indent="0" lvl="0" marL="0" rtl="0" algn="l">
              <a:spcBef>
                <a:spcPts val="1200"/>
              </a:spcBef>
              <a:spcAft>
                <a:spcPts val="1200"/>
              </a:spcAft>
              <a:buNone/>
            </a:pPr>
            <a:r>
              <a:rPr lang="en">
                <a:solidFill>
                  <a:schemeClr val="dk1"/>
                </a:solidFill>
              </a:rPr>
              <a:t>Without them, performance results might not be accurate enough and cannot be properly interpreted, which makes the comparisons unfair.</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
            </a:r>
            <a:r>
              <a:rPr lang="en"/>
              <a:t>hoosing the right mean </a:t>
            </a:r>
            <a:r>
              <a:rPr lang="en" sz="1911"/>
              <a:t>(statistical competence)</a:t>
            </a:r>
            <a:endParaRPr sz="1911"/>
          </a:p>
        </p:txBody>
      </p:sp>
      <p:graphicFrame>
        <p:nvGraphicFramePr>
          <p:cNvPr id="124" name="Google Shape;124;p24"/>
          <p:cNvGraphicFramePr/>
          <p:nvPr/>
        </p:nvGraphicFramePr>
        <p:xfrm>
          <a:off x="596950" y="1443875"/>
          <a:ext cx="3000000" cy="3000000"/>
        </p:xfrm>
        <a:graphic>
          <a:graphicData uri="http://schemas.openxmlformats.org/drawingml/2006/table">
            <a:tbl>
              <a:tblPr>
                <a:noFill/>
                <a:tableStyleId>{5BE36C60-C50F-4DE3-AACB-E44D898A6528}</a:tableStyleId>
              </a:tblPr>
              <a:tblGrid>
                <a:gridCol w="1247325"/>
                <a:gridCol w="1993400"/>
                <a:gridCol w="2564650"/>
                <a:gridCol w="2308150"/>
              </a:tblGrid>
              <a:tr h="835000">
                <a:tc>
                  <a:txBody>
                    <a:bodyPr/>
                    <a:lstStyle/>
                    <a:p>
                      <a:pPr indent="0" lvl="0" marL="0" rtl="0" algn="l">
                        <a:lnSpc>
                          <a:spcPct val="115000"/>
                        </a:lnSpc>
                        <a:spcBef>
                          <a:spcPts val="0"/>
                        </a:spcBef>
                        <a:spcAft>
                          <a:spcPts val="0"/>
                        </a:spcAft>
                        <a:buNone/>
                      </a:pPr>
                      <a:r>
                        <a:rPr b="1" lang="en" sz="1600">
                          <a:solidFill>
                            <a:srgbClr val="1F1F1F"/>
                          </a:solidFill>
                        </a:rPr>
                        <a:t>Mean Type</a:t>
                      </a:r>
                      <a:endParaRPr b="1"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solidFill>
                      <a:srgbClr val="D9D2E9"/>
                    </a:solidFill>
                  </a:tcPr>
                </a:tc>
                <a:tc>
                  <a:txBody>
                    <a:bodyPr/>
                    <a:lstStyle/>
                    <a:p>
                      <a:pPr indent="0" lvl="0" marL="0" rtl="0" algn="l">
                        <a:lnSpc>
                          <a:spcPct val="115000"/>
                        </a:lnSpc>
                        <a:spcBef>
                          <a:spcPts val="0"/>
                        </a:spcBef>
                        <a:spcAft>
                          <a:spcPts val="0"/>
                        </a:spcAft>
                        <a:buNone/>
                      </a:pPr>
                      <a:r>
                        <a:rPr b="1" lang="en" sz="1600">
                          <a:solidFill>
                            <a:srgbClr val="1F1F1F"/>
                          </a:solidFill>
                        </a:rPr>
                        <a:t>Formula</a:t>
                      </a:r>
                      <a:endParaRPr b="1"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solidFill>
                      <a:srgbClr val="D9D2E9"/>
                    </a:solidFill>
                  </a:tcPr>
                </a:tc>
                <a:tc>
                  <a:txBody>
                    <a:bodyPr/>
                    <a:lstStyle/>
                    <a:p>
                      <a:pPr indent="0" lvl="0" marL="0" rtl="0" algn="l">
                        <a:lnSpc>
                          <a:spcPct val="115000"/>
                        </a:lnSpc>
                        <a:spcBef>
                          <a:spcPts val="0"/>
                        </a:spcBef>
                        <a:spcAft>
                          <a:spcPts val="0"/>
                        </a:spcAft>
                        <a:buNone/>
                      </a:pPr>
                      <a:r>
                        <a:rPr b="1" lang="en" sz="1600">
                          <a:solidFill>
                            <a:srgbClr val="1F1F1F"/>
                          </a:solidFill>
                        </a:rPr>
                        <a:t>When to Use</a:t>
                      </a:r>
                      <a:endParaRPr b="1"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solidFill>
                      <a:srgbClr val="D9D2E9"/>
                    </a:solidFill>
                  </a:tcPr>
                </a:tc>
                <a:tc>
                  <a:txBody>
                    <a:bodyPr/>
                    <a:lstStyle/>
                    <a:p>
                      <a:pPr indent="0" lvl="0" marL="0" rtl="0" algn="l">
                        <a:lnSpc>
                          <a:spcPct val="115000"/>
                        </a:lnSpc>
                        <a:spcBef>
                          <a:spcPts val="0"/>
                        </a:spcBef>
                        <a:spcAft>
                          <a:spcPts val="0"/>
                        </a:spcAft>
                        <a:buNone/>
                      </a:pPr>
                      <a:r>
                        <a:rPr b="1" lang="en" sz="1600">
                          <a:solidFill>
                            <a:srgbClr val="1F1F1F"/>
                          </a:solidFill>
                        </a:rPr>
                        <a:t>Example</a:t>
                      </a:r>
                      <a:endParaRPr b="1"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solidFill>
                      <a:srgbClr val="D9D2E9"/>
                    </a:solidFill>
                  </a:tcPr>
                </a:tc>
              </a:tr>
              <a:tr h="835000">
                <a:tc>
                  <a:txBody>
                    <a:bodyPr/>
                    <a:lstStyle/>
                    <a:p>
                      <a:pPr indent="0" lvl="0" marL="0" rtl="0" algn="l">
                        <a:lnSpc>
                          <a:spcPct val="115000"/>
                        </a:lnSpc>
                        <a:spcBef>
                          <a:spcPts val="0"/>
                        </a:spcBef>
                        <a:spcAft>
                          <a:spcPts val="0"/>
                        </a:spcAft>
                        <a:buNone/>
                      </a:pPr>
                      <a:r>
                        <a:rPr b="1" lang="en" sz="1600">
                          <a:solidFill>
                            <a:srgbClr val="1F1F1F"/>
                          </a:solidFill>
                        </a:rPr>
                        <a:t>Arithmetic</a:t>
                      </a:r>
                      <a:endParaRPr b="1"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Sum / n</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Pure </a:t>
                      </a:r>
                      <a:r>
                        <a:rPr b="1" lang="en" sz="1600">
                          <a:solidFill>
                            <a:srgbClr val="1F1F1F"/>
                          </a:solidFill>
                        </a:rPr>
                        <a:t>Time</a:t>
                      </a:r>
                      <a:r>
                        <a:rPr lang="en" sz="1600">
                          <a:solidFill>
                            <a:srgbClr val="1F1F1F"/>
                          </a:solidFill>
                        </a:rPr>
                        <a:t> or Latency</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"Average Latency: 5ms"</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r>
              <a:tr h="835000">
                <a:tc>
                  <a:txBody>
                    <a:bodyPr/>
                    <a:lstStyle/>
                    <a:p>
                      <a:pPr indent="0" lvl="0" marL="0" rtl="0" algn="l">
                        <a:lnSpc>
                          <a:spcPct val="115000"/>
                        </a:lnSpc>
                        <a:spcBef>
                          <a:spcPts val="0"/>
                        </a:spcBef>
                        <a:spcAft>
                          <a:spcPts val="0"/>
                        </a:spcAft>
                        <a:buNone/>
                      </a:pPr>
                      <a:r>
                        <a:rPr b="1" lang="en" sz="1600">
                          <a:solidFill>
                            <a:srgbClr val="1F1F1F"/>
                          </a:solidFill>
                        </a:rPr>
                        <a:t>Harmonic</a:t>
                      </a:r>
                      <a:endParaRPr b="1"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n / Σ(1/x)</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rgbClr val="1F1F1F"/>
                          </a:solidFill>
                        </a:rPr>
                        <a:t>Rates</a:t>
                      </a:r>
                      <a:r>
                        <a:rPr lang="en" sz="1600">
                          <a:solidFill>
                            <a:srgbClr val="1F1F1F"/>
                          </a:solidFill>
                        </a:rPr>
                        <a:t> (Speed, Throughput)</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"Bandwidth: 100 MB/s"</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r>
              <a:tr h="835000">
                <a:tc>
                  <a:txBody>
                    <a:bodyPr/>
                    <a:lstStyle/>
                    <a:p>
                      <a:pPr indent="0" lvl="0" marL="0" rtl="0" algn="l">
                        <a:lnSpc>
                          <a:spcPct val="115000"/>
                        </a:lnSpc>
                        <a:spcBef>
                          <a:spcPts val="0"/>
                        </a:spcBef>
                        <a:spcAft>
                          <a:spcPts val="0"/>
                        </a:spcAft>
                        <a:buNone/>
                      </a:pPr>
                      <a:r>
                        <a:rPr b="1" lang="en" sz="1600">
                          <a:solidFill>
                            <a:srgbClr val="1F1F1F"/>
                          </a:solidFill>
                        </a:rPr>
                        <a:t>Geometric</a:t>
                      </a:r>
                      <a:endParaRPr b="1"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aseline="30000" lang="en" sz="1600">
                          <a:solidFill>
                            <a:srgbClr val="1F1F1F"/>
                          </a:solidFill>
                        </a:rPr>
                        <a:t>n</a:t>
                      </a:r>
                      <a:r>
                        <a:rPr lang="en" sz="1600">
                          <a:solidFill>
                            <a:srgbClr val="1F1F1F"/>
                          </a:solidFill>
                        </a:rPr>
                        <a:t>√Πx</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rgbClr val="1F1F1F"/>
                          </a:solidFill>
                        </a:rPr>
                        <a:t>Ratios</a:t>
                      </a:r>
                      <a:r>
                        <a:rPr lang="en" sz="1600">
                          <a:solidFill>
                            <a:srgbClr val="1F1F1F"/>
                          </a:solidFill>
                        </a:rPr>
                        <a:t> or Speedups</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"System A is 1.5x faster"</a:t>
                      </a:r>
                      <a:endParaRPr sz="1600">
                        <a:solidFill>
                          <a:srgbClr val="1F1F1F"/>
                        </a:solidFill>
                      </a:endParaRPr>
                    </a:p>
                  </a:txBody>
                  <a:tcPr marT="76200" marB="76200" marR="114300" marL="114300">
                    <a:lnL cap="flat" cmpd="sng" w="5250">
                      <a:solidFill>
                        <a:srgbClr val="1F1F1F"/>
                      </a:solidFill>
                      <a:prstDash val="solid"/>
                      <a:round/>
                      <a:headEnd len="sm" w="sm" type="none"/>
                      <a:tailEnd len="sm" w="sm" type="none"/>
                    </a:lnL>
                    <a:lnR cap="flat" cmpd="sng" w="5250">
                      <a:solidFill>
                        <a:srgbClr val="1F1F1F"/>
                      </a:solidFill>
                      <a:prstDash val="solid"/>
                      <a:round/>
                      <a:headEnd len="sm" w="sm" type="none"/>
                      <a:tailEnd len="sm" w="sm" type="none"/>
                    </a:lnR>
                    <a:lnT cap="flat" cmpd="sng" w="5250">
                      <a:solidFill>
                        <a:srgbClr val="1F1F1F"/>
                      </a:solidFill>
                      <a:prstDash val="solid"/>
                      <a:round/>
                      <a:headEnd len="sm" w="sm" type="none"/>
                      <a:tailEnd len="sm" w="sm" type="none"/>
                    </a:lnT>
                    <a:lnB cap="flat" cmpd="sng" w="5250">
                      <a:solidFill>
                        <a:srgbClr val="1F1F1F"/>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t>
            </a:r>
            <a:r>
              <a:rPr lang="en"/>
              <a:t>he “overlap” rule: c</a:t>
            </a:r>
            <a:r>
              <a:rPr lang="en"/>
              <a:t>onfidence intervals</a:t>
            </a:r>
            <a:endParaRPr/>
          </a:p>
        </p:txBody>
      </p:sp>
      <p:sp>
        <p:nvSpPr>
          <p:cNvPr id="130" name="Google Shape;130;p25"/>
          <p:cNvSpPr txBox="1"/>
          <p:nvPr>
            <p:ph idx="1" type="body"/>
          </p:nvPr>
        </p:nvSpPr>
        <p:spPr>
          <a:xfrm>
            <a:off x="311700" y="1152475"/>
            <a:ext cx="2826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Clr>
                <a:schemeClr val="dk1"/>
              </a:buClr>
              <a:buSzPts val="1018"/>
              <a:buFont typeface="Arial"/>
              <a:buNone/>
            </a:pPr>
            <a:r>
              <a:rPr b="1" lang="en" sz="1288">
                <a:solidFill>
                  <a:schemeClr val="dk1"/>
                </a:solidFill>
              </a:rPr>
              <a:t>illusion:</a:t>
            </a:r>
            <a:r>
              <a:rPr lang="en" sz="1288">
                <a:solidFill>
                  <a:schemeClr val="dk1"/>
                </a:solidFill>
              </a:rPr>
              <a:t> A single number implies 100% certainty.</a:t>
            </a:r>
            <a:endParaRPr sz="1288">
              <a:solidFill>
                <a:schemeClr val="dk1"/>
              </a:solidFill>
            </a:endParaRPr>
          </a:p>
          <a:p>
            <a:pPr indent="0" lvl="0" marL="0" rtl="0" algn="l">
              <a:lnSpc>
                <a:spcPct val="105000"/>
              </a:lnSpc>
              <a:spcBef>
                <a:spcPts val="0"/>
              </a:spcBef>
              <a:spcAft>
                <a:spcPts val="0"/>
              </a:spcAft>
              <a:buClr>
                <a:schemeClr val="dk1"/>
              </a:buClr>
              <a:buSzPts val="1018"/>
              <a:buFont typeface="Arial"/>
              <a:buNone/>
            </a:pPr>
            <a:r>
              <a:rPr b="1" lang="en" sz="1288">
                <a:solidFill>
                  <a:schemeClr val="dk1"/>
                </a:solidFill>
              </a:rPr>
              <a:t>reality:</a:t>
            </a:r>
            <a:r>
              <a:rPr lang="en" sz="1288">
                <a:solidFill>
                  <a:schemeClr val="dk1"/>
                </a:solidFill>
              </a:rPr>
              <a:t> Every system has noise.</a:t>
            </a:r>
            <a:endParaRPr sz="1288">
              <a:solidFill>
                <a:schemeClr val="dk1"/>
              </a:solidFill>
            </a:endParaRPr>
          </a:p>
          <a:p>
            <a:pPr indent="0" lvl="0" marL="0" rtl="0" algn="l">
              <a:lnSpc>
                <a:spcPct val="105000"/>
              </a:lnSpc>
              <a:spcBef>
                <a:spcPts val="0"/>
              </a:spcBef>
              <a:spcAft>
                <a:spcPts val="0"/>
              </a:spcAft>
              <a:buClr>
                <a:schemeClr val="dk1"/>
              </a:buClr>
              <a:buSzPts val="1018"/>
              <a:buFont typeface="Arial"/>
              <a:buNone/>
            </a:pPr>
            <a:r>
              <a:rPr b="1" lang="en" sz="1288">
                <a:solidFill>
                  <a:schemeClr val="dk1"/>
                </a:solidFill>
              </a:rPr>
              <a:t>requirement:</a:t>
            </a:r>
            <a:r>
              <a:rPr lang="en" sz="1288">
                <a:solidFill>
                  <a:schemeClr val="dk1"/>
                </a:solidFill>
              </a:rPr>
              <a:t> Always plot </a:t>
            </a:r>
            <a:r>
              <a:rPr b="1" lang="en" sz="1288">
                <a:solidFill>
                  <a:schemeClr val="dk1"/>
                </a:solidFill>
              </a:rPr>
              <a:t>95% Confidence Intervals</a:t>
            </a:r>
            <a:r>
              <a:rPr lang="en" sz="1288">
                <a:solidFill>
                  <a:schemeClr val="dk1"/>
                </a:solidFill>
              </a:rPr>
              <a:t> (Error Bars).</a:t>
            </a:r>
            <a:endParaRPr sz="1288">
              <a:solidFill>
                <a:schemeClr val="dk1"/>
              </a:solidFill>
            </a:endParaRPr>
          </a:p>
          <a:p>
            <a:pPr indent="0" lvl="0" marL="0" rtl="0" algn="l">
              <a:lnSpc>
                <a:spcPct val="105000"/>
              </a:lnSpc>
              <a:spcBef>
                <a:spcPts val="0"/>
              </a:spcBef>
              <a:spcAft>
                <a:spcPts val="0"/>
              </a:spcAft>
              <a:buClr>
                <a:schemeClr val="dk1"/>
              </a:buClr>
              <a:buSzPts val="1018"/>
              <a:buFont typeface="Arial"/>
              <a:buNone/>
            </a:pPr>
            <a:r>
              <a:rPr b="1" lang="en" sz="1288">
                <a:solidFill>
                  <a:schemeClr val="dk1"/>
                </a:solidFill>
              </a:rPr>
              <a:t>Rule of thumb:</a:t>
            </a:r>
            <a:endParaRPr b="1" sz="1288">
              <a:solidFill>
                <a:schemeClr val="dk1"/>
              </a:solidFill>
            </a:endParaRPr>
          </a:p>
          <a:p>
            <a:pPr indent="-310356" lvl="0" marL="457200" rtl="0" algn="l">
              <a:lnSpc>
                <a:spcPct val="105000"/>
              </a:lnSpc>
              <a:spcBef>
                <a:spcPts val="0"/>
              </a:spcBef>
              <a:spcAft>
                <a:spcPts val="0"/>
              </a:spcAft>
              <a:buClr>
                <a:schemeClr val="dk1"/>
              </a:buClr>
              <a:buSzPts val="1288"/>
              <a:buChar char="●"/>
            </a:pPr>
            <a:r>
              <a:rPr lang="en" sz="1288">
                <a:solidFill>
                  <a:schemeClr val="dk1"/>
                </a:solidFill>
              </a:rPr>
              <a:t>If bars </a:t>
            </a:r>
            <a:r>
              <a:rPr b="1" lang="en" sz="1288">
                <a:solidFill>
                  <a:schemeClr val="dk1"/>
                </a:solidFill>
              </a:rPr>
              <a:t>Overlap</a:t>
            </a:r>
            <a:r>
              <a:rPr lang="en" sz="1288">
                <a:solidFill>
                  <a:schemeClr val="dk1"/>
                </a:solidFill>
              </a:rPr>
              <a:t> → Statistically Indistinguishable (Tie).</a:t>
            </a:r>
            <a:endParaRPr sz="1288">
              <a:solidFill>
                <a:schemeClr val="dk1"/>
              </a:solidFill>
            </a:endParaRPr>
          </a:p>
          <a:p>
            <a:pPr indent="-310356" lvl="0" marL="457200" rtl="0" algn="l">
              <a:lnSpc>
                <a:spcPct val="105000"/>
              </a:lnSpc>
              <a:spcBef>
                <a:spcPts val="0"/>
              </a:spcBef>
              <a:spcAft>
                <a:spcPts val="0"/>
              </a:spcAft>
              <a:buClr>
                <a:schemeClr val="dk1"/>
              </a:buClr>
              <a:buSzPts val="1288"/>
              <a:buChar char="●"/>
            </a:pPr>
            <a:r>
              <a:rPr lang="en" sz="1288">
                <a:solidFill>
                  <a:schemeClr val="dk1"/>
                </a:solidFill>
              </a:rPr>
              <a:t>If bars </a:t>
            </a:r>
            <a:r>
              <a:rPr b="1" lang="en" sz="1288">
                <a:solidFill>
                  <a:schemeClr val="dk1"/>
                </a:solidFill>
              </a:rPr>
              <a:t>Separate</a:t>
            </a:r>
            <a:r>
              <a:rPr lang="en" sz="1288">
                <a:solidFill>
                  <a:schemeClr val="dk1"/>
                </a:solidFill>
              </a:rPr>
              <a:t> → Valid Win.</a:t>
            </a:r>
            <a:endParaRPr sz="1288">
              <a:solidFill>
                <a:schemeClr val="dk1"/>
              </a:solidFill>
            </a:endParaRPr>
          </a:p>
          <a:p>
            <a:pPr indent="0" lvl="0" marL="0" rtl="0" algn="l">
              <a:lnSpc>
                <a:spcPct val="105000"/>
              </a:lnSpc>
              <a:spcBef>
                <a:spcPts val="1200"/>
              </a:spcBef>
              <a:spcAft>
                <a:spcPts val="1200"/>
              </a:spcAft>
              <a:buSzPts val="1018"/>
              <a:buNone/>
            </a:pPr>
            <a:r>
              <a:t/>
            </a:r>
            <a:endParaRPr sz="1935"/>
          </a:p>
        </p:txBody>
      </p:sp>
      <p:pic>
        <p:nvPicPr>
          <p:cNvPr id="131" name="Google Shape;131;p25"/>
          <p:cNvPicPr preferRelativeResize="0"/>
          <p:nvPr/>
        </p:nvPicPr>
        <p:blipFill>
          <a:blip r:embed="rId3">
            <a:alphaModFix/>
          </a:blip>
          <a:stretch>
            <a:fillRect/>
          </a:stretch>
        </p:blipFill>
        <p:spPr>
          <a:xfrm>
            <a:off x="3236175" y="1084350"/>
            <a:ext cx="5787724" cy="32112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189875"/>
            <a:ext cx="8520600" cy="57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Flame Graphs - </a:t>
            </a:r>
            <a:r>
              <a:rPr lang="en" sz="1800" u="sng">
                <a:solidFill>
                  <a:schemeClr val="accent5"/>
                </a:solidFill>
                <a:hlinkClick r:id="rId3">
                  <a:extLst>
                    <a:ext uri="{A12FA001-AC4F-418D-AE19-62706E023703}">
                      <ahyp:hlinkClr val="tx"/>
                    </a:ext>
                  </a:extLst>
                </a:hlinkClick>
              </a:rPr>
              <a:t>https://www.brendangregg.com/flamegraphs.html</a:t>
            </a:r>
            <a:endParaRPr/>
          </a:p>
        </p:txBody>
      </p:sp>
      <p:sp>
        <p:nvSpPr>
          <p:cNvPr id="137" name="Google Shape;137;p26"/>
          <p:cNvSpPr txBox="1"/>
          <p:nvPr>
            <p:ph idx="1" type="body"/>
          </p:nvPr>
        </p:nvSpPr>
        <p:spPr>
          <a:xfrm>
            <a:off x="311700" y="909400"/>
            <a:ext cx="8520600" cy="4077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dk1"/>
                </a:solidFill>
              </a:rPr>
              <a:t>Why do we need Flame Graph?</a:t>
            </a:r>
            <a:endParaRPr>
              <a:solidFill>
                <a:schemeClr val="dk1"/>
              </a:solidFill>
            </a:endParaRPr>
          </a:p>
          <a:p>
            <a:pPr indent="-334328" lvl="0" marL="457200" rtl="0" algn="l">
              <a:lnSpc>
                <a:spcPct val="100000"/>
              </a:lnSpc>
              <a:spcBef>
                <a:spcPts val="1200"/>
              </a:spcBef>
              <a:spcAft>
                <a:spcPts val="0"/>
              </a:spcAft>
              <a:buClr>
                <a:schemeClr val="dk1"/>
              </a:buClr>
              <a:buSzPct val="100000"/>
              <a:buChar char="●"/>
            </a:pPr>
            <a:r>
              <a:rPr lang="en">
                <a:solidFill>
                  <a:schemeClr val="dk1"/>
                </a:solidFill>
              </a:rPr>
              <a:t>Where is CPU time going?</a:t>
            </a:r>
            <a:br>
              <a:rPr lang="en">
                <a:solidFill>
                  <a:schemeClr val="dk1"/>
                </a:solidFill>
              </a:rPr>
            </a:br>
            <a:endParaRPr>
              <a:solidFill>
                <a:schemeClr val="dk1"/>
              </a:solidFill>
            </a:endParaRPr>
          </a:p>
          <a:p>
            <a:pPr indent="-334328" lvl="0" marL="457200" rtl="0" algn="l">
              <a:lnSpc>
                <a:spcPct val="100000"/>
              </a:lnSpc>
              <a:spcBef>
                <a:spcPts val="0"/>
              </a:spcBef>
              <a:spcAft>
                <a:spcPts val="0"/>
              </a:spcAft>
              <a:buClr>
                <a:schemeClr val="dk1"/>
              </a:buClr>
              <a:buSzPct val="100000"/>
              <a:buChar char="●"/>
            </a:pPr>
            <a:r>
              <a:rPr lang="en">
                <a:solidFill>
                  <a:schemeClr val="dk1"/>
                </a:solidFill>
              </a:rPr>
              <a:t>Which function is taking the most time?</a:t>
            </a:r>
            <a:br>
              <a:rPr lang="en">
                <a:solidFill>
                  <a:schemeClr val="dk1"/>
                </a:solidFill>
              </a:rPr>
            </a:br>
            <a:endParaRPr>
              <a:solidFill>
                <a:schemeClr val="dk1"/>
              </a:solidFill>
            </a:endParaRPr>
          </a:p>
          <a:p>
            <a:pPr indent="-334328" lvl="0" marL="457200" rtl="0" algn="l">
              <a:lnSpc>
                <a:spcPct val="100000"/>
              </a:lnSpc>
              <a:spcBef>
                <a:spcPts val="0"/>
              </a:spcBef>
              <a:spcAft>
                <a:spcPts val="0"/>
              </a:spcAft>
              <a:buClr>
                <a:schemeClr val="dk1"/>
              </a:buClr>
              <a:buSzPct val="100000"/>
              <a:buChar char="●"/>
            </a:pPr>
            <a:r>
              <a:rPr lang="en">
                <a:solidFill>
                  <a:schemeClr val="dk1"/>
                </a:solidFill>
              </a:rPr>
              <a:t>What part of the code should we optimize?</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rPr>
              <a:t>Flame Graph</a:t>
            </a:r>
            <a:endParaRPr>
              <a:solidFill>
                <a:schemeClr val="dk1"/>
              </a:solidFill>
            </a:endParaRPr>
          </a:p>
          <a:p>
            <a:pPr indent="0" lvl="0" marL="0" rtl="0" algn="l">
              <a:spcBef>
                <a:spcPts val="1200"/>
              </a:spcBef>
              <a:spcAft>
                <a:spcPts val="0"/>
              </a:spcAft>
              <a:buClr>
                <a:schemeClr val="dk1"/>
              </a:buClr>
              <a:buSzPct val="61111"/>
              <a:buFont typeface="Arial"/>
              <a:buNone/>
            </a:pPr>
            <a:r>
              <a:rPr lang="en">
                <a:solidFill>
                  <a:schemeClr val="dk1"/>
                </a:solidFill>
              </a:rPr>
              <a:t>A flame graph is a visualization of many stack traces aggregated together. It was originally used to show what is “hot” on-CPU.</a:t>
            </a:r>
            <a:endParaRPr>
              <a:solidFill>
                <a:schemeClr val="dk1"/>
              </a:solidFill>
            </a:endParaRPr>
          </a:p>
          <a:p>
            <a:pPr indent="0" lvl="0" marL="0" rtl="0" algn="l">
              <a:spcBef>
                <a:spcPts val="1200"/>
              </a:spcBef>
              <a:spcAft>
                <a:spcPts val="0"/>
              </a:spcAft>
              <a:buClr>
                <a:schemeClr val="dk1"/>
              </a:buClr>
              <a:buSzPct val="61111"/>
              <a:buFont typeface="Arial"/>
              <a:buNone/>
            </a:pPr>
            <a:r>
              <a:rPr lang="en">
                <a:solidFill>
                  <a:schemeClr val="dk1"/>
                </a:solidFill>
              </a:rPr>
              <a:t>Each box represents a function in the program.</a:t>
            </a:r>
            <a:endParaRPr>
              <a:solidFill>
                <a:schemeClr val="dk1"/>
              </a:solidFill>
            </a:endParaRPr>
          </a:p>
          <a:p>
            <a:pPr indent="0" lvl="0" marL="0" rtl="0" algn="l">
              <a:spcBef>
                <a:spcPts val="1200"/>
              </a:spcBef>
              <a:spcAft>
                <a:spcPts val="0"/>
              </a:spcAft>
              <a:buNone/>
            </a:pPr>
            <a:r>
              <a:rPr lang="en">
                <a:solidFill>
                  <a:schemeClr val="dk1"/>
                </a:solidFill>
              </a:rPr>
              <a:t>The width of a box shows how much time was spent there.</a:t>
            </a:r>
            <a:endParaRPr>
              <a:solidFill>
                <a:schemeClr val="dk1"/>
              </a:solidFill>
            </a:endParaRPr>
          </a:p>
          <a:p>
            <a:pPr indent="0" lvl="0" marL="0" rtl="0" algn="l">
              <a:spcBef>
                <a:spcPts val="1200"/>
              </a:spcBef>
              <a:spcAft>
                <a:spcPts val="1200"/>
              </a:spcAft>
              <a:buNone/>
            </a:pPr>
            <a:r>
              <a:rPr lang="en">
                <a:solidFill>
                  <a:schemeClr val="dk1"/>
                </a:solidFill>
              </a:rPr>
              <a:t>The vertical direction shows the call stack (who called whom).</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264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make flame graph (terminal commands)</a:t>
            </a:r>
            <a:endParaRPr/>
          </a:p>
        </p:txBody>
      </p:sp>
      <p:sp>
        <p:nvSpPr>
          <p:cNvPr id="143" name="Google Shape;143;p27"/>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lang="en">
                <a:solidFill>
                  <a:schemeClr val="dk1"/>
                </a:solidFill>
              </a:rPr>
              <a:t>Do this </a:t>
            </a:r>
            <a:r>
              <a:rPr lang="en">
                <a:solidFill>
                  <a:schemeClr val="dk1"/>
                </a:solidFill>
              </a:rPr>
              <a:t>step</a:t>
            </a:r>
            <a:r>
              <a:rPr lang="en">
                <a:solidFill>
                  <a:schemeClr val="dk1"/>
                </a:solidFill>
              </a:rPr>
              <a:t> by step:</a:t>
            </a:r>
            <a:endParaRPr>
              <a:solidFill>
                <a:schemeClr val="dk1"/>
              </a:solidFill>
            </a:endParaRPr>
          </a:p>
          <a:p>
            <a:pPr indent="0" lvl="0" marL="0" rtl="0" algn="l">
              <a:lnSpc>
                <a:spcPct val="100000"/>
              </a:lnSpc>
              <a:spcBef>
                <a:spcPts val="1200"/>
              </a:spcBef>
              <a:spcAft>
                <a:spcPts val="0"/>
              </a:spcAft>
              <a:buNone/>
            </a:pPr>
            <a:r>
              <a:rPr lang="en">
                <a:solidFill>
                  <a:schemeClr val="dk1"/>
                </a:solidFill>
              </a:rPr>
              <a:t>(Skip the </a:t>
            </a:r>
            <a:r>
              <a:rPr lang="en">
                <a:solidFill>
                  <a:schemeClr val="dk1"/>
                </a:solidFill>
              </a:rPr>
              <a:t>following</a:t>
            </a:r>
            <a:r>
              <a:rPr lang="en">
                <a:solidFill>
                  <a:schemeClr val="dk1"/>
                </a:solidFill>
              </a:rPr>
              <a:t> line if on sunlab)</a:t>
            </a:r>
            <a:endParaRPr>
              <a:solidFill>
                <a:schemeClr val="dk1"/>
              </a:solidFill>
            </a:endParaRPr>
          </a:p>
          <a:p>
            <a:pPr indent="0" lvl="0" marL="0" rtl="0" algn="l">
              <a:lnSpc>
                <a:spcPct val="100000"/>
              </a:lnSpc>
              <a:spcBef>
                <a:spcPts val="1200"/>
              </a:spcBef>
              <a:spcAft>
                <a:spcPts val="0"/>
              </a:spcAft>
              <a:buNone/>
            </a:pPr>
            <a:r>
              <a:rPr lang="en">
                <a:solidFill>
                  <a:schemeClr val="dk1"/>
                </a:solidFill>
              </a:rPr>
              <a:t>sudo apt install linux-tools-common linux-tools-generic linux-tools-$(uname -r)</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a:solidFill>
                  <a:schemeClr val="dk1"/>
                </a:solidFill>
              </a:rPr>
              <a:t>git clone https://github.com/brendangregg/FlameGraph.git</a:t>
            </a:r>
            <a:endParaRPr>
              <a:solidFill>
                <a:schemeClr val="dk1"/>
              </a:solidFill>
            </a:endParaRPr>
          </a:p>
          <a:p>
            <a:pPr indent="0" lvl="0" marL="0" rtl="0" algn="l">
              <a:lnSpc>
                <a:spcPct val="100000"/>
              </a:lnSpc>
              <a:spcBef>
                <a:spcPts val="1200"/>
              </a:spcBef>
              <a:spcAft>
                <a:spcPts val="0"/>
              </a:spcAft>
              <a:buNone/>
            </a:pPr>
            <a:r>
              <a:rPr lang="en">
                <a:solidFill>
                  <a:schemeClr val="dk1"/>
                </a:solidFill>
              </a:rPr>
              <a:t>g++ -O2 -g your_p</a:t>
            </a:r>
            <a:r>
              <a:rPr lang="en">
                <a:solidFill>
                  <a:schemeClr val="dk1"/>
                </a:solidFill>
              </a:rPr>
              <a:t>rogram</a:t>
            </a:r>
            <a:r>
              <a:rPr lang="en">
                <a:solidFill>
                  <a:schemeClr val="dk1"/>
                </a:solidFill>
              </a:rPr>
              <a:t>.cpp -o program</a:t>
            </a:r>
            <a:endParaRPr>
              <a:solidFill>
                <a:schemeClr val="dk1"/>
              </a:solidFill>
            </a:endParaRPr>
          </a:p>
          <a:p>
            <a:pPr indent="0" lvl="0" marL="0" rtl="0" algn="l">
              <a:lnSpc>
                <a:spcPct val="100000"/>
              </a:lnSpc>
              <a:spcBef>
                <a:spcPts val="1200"/>
              </a:spcBef>
              <a:spcAft>
                <a:spcPts val="0"/>
              </a:spcAft>
              <a:buNone/>
            </a:pPr>
            <a:r>
              <a:rPr lang="en">
                <a:solidFill>
                  <a:schemeClr val="dk1"/>
                </a:solidFill>
              </a:rPr>
              <a:t>perf record -F 99 -g ./your_program (this would output perf.data)</a:t>
            </a:r>
            <a:endParaRPr>
              <a:solidFill>
                <a:schemeClr val="dk1"/>
              </a:solidFill>
            </a:endParaRPr>
          </a:p>
          <a:p>
            <a:pPr indent="0" lvl="0" marL="0" rtl="0" algn="l">
              <a:lnSpc>
                <a:spcPct val="100000"/>
              </a:lnSpc>
              <a:spcBef>
                <a:spcPts val="1200"/>
              </a:spcBef>
              <a:spcAft>
                <a:spcPts val="0"/>
              </a:spcAft>
              <a:buNone/>
            </a:pPr>
            <a:r>
              <a:rPr lang="en">
                <a:solidFill>
                  <a:schemeClr val="dk1"/>
                </a:solidFill>
              </a:rPr>
              <a:t>perf script &gt; out.perf</a:t>
            </a:r>
            <a:endParaRPr>
              <a:solidFill>
                <a:schemeClr val="dk1"/>
              </a:solidFill>
            </a:endParaRPr>
          </a:p>
          <a:p>
            <a:pPr indent="0" lvl="0" marL="0" rtl="0" algn="l">
              <a:lnSpc>
                <a:spcPct val="100000"/>
              </a:lnSpc>
              <a:spcBef>
                <a:spcPts val="1200"/>
              </a:spcBef>
              <a:spcAft>
                <a:spcPts val="0"/>
              </a:spcAft>
              <a:buNone/>
            </a:pPr>
            <a:r>
              <a:rPr lang="en">
                <a:solidFill>
                  <a:schemeClr val="dk1"/>
                </a:solidFill>
              </a:rPr>
              <a:t>./FlameGraph/stackcollapse-perf.pl out.perf &gt; out.folded</a:t>
            </a:r>
            <a:endParaRPr>
              <a:solidFill>
                <a:schemeClr val="dk1"/>
              </a:solidFill>
            </a:endParaRPr>
          </a:p>
          <a:p>
            <a:pPr indent="0" lvl="0" marL="0" rtl="0" algn="l">
              <a:lnSpc>
                <a:spcPct val="100000"/>
              </a:lnSpc>
              <a:spcBef>
                <a:spcPts val="1200"/>
              </a:spcBef>
              <a:spcAft>
                <a:spcPts val="0"/>
              </a:spcAft>
              <a:buNone/>
            </a:pPr>
            <a:r>
              <a:rPr lang="en">
                <a:solidFill>
                  <a:schemeClr val="dk1"/>
                </a:solidFill>
              </a:rPr>
              <a:t>./FlameGraph/flamegraph.pl out.folded &gt; flamegraph.svg</a:t>
            </a:r>
            <a:endParaRPr>
              <a:solidFill>
                <a:schemeClr val="dk1"/>
              </a:solidFill>
            </a:endParaRPr>
          </a:p>
          <a:p>
            <a:pPr indent="0" lvl="0" marL="0" rtl="0" algn="l">
              <a:lnSpc>
                <a:spcPct val="100000"/>
              </a:lnSpc>
              <a:spcBef>
                <a:spcPts val="1200"/>
              </a:spcBef>
              <a:spcAft>
                <a:spcPts val="1200"/>
              </a:spcAft>
              <a:buNone/>
            </a:pPr>
            <a:r>
              <a:rPr lang="en">
                <a:solidFill>
                  <a:schemeClr val="dk1"/>
                </a:solidFill>
              </a:rPr>
              <a:t>l</a:t>
            </a:r>
            <a:r>
              <a:rPr lang="en">
                <a:solidFill>
                  <a:schemeClr val="dk1"/>
                </a:solidFill>
              </a:rPr>
              <a:t>astly </a:t>
            </a:r>
            <a:r>
              <a:rPr lang="en">
                <a:solidFill>
                  <a:schemeClr val="dk1"/>
                </a:solidFill>
              </a:rPr>
              <a:t>d</a:t>
            </a:r>
            <a:r>
              <a:rPr lang="en">
                <a:solidFill>
                  <a:schemeClr val="dk1"/>
                </a:solidFill>
              </a:rPr>
              <a:t>ownload flamegraph.svg or use firefox flamegraph.svg if you have firefox</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Day 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214175"/>
            <a:ext cx="8520600" cy="71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b="1" lang="en" sz="2278"/>
              <a:t>How to Measure, Present, and compare parallel performance</a:t>
            </a:r>
            <a:endParaRPr b="1" sz="2278"/>
          </a:p>
        </p:txBody>
      </p:sp>
      <p:sp>
        <p:nvSpPr>
          <p:cNvPr id="154" name="Google Shape;154;p29"/>
          <p:cNvSpPr txBox="1"/>
          <p:nvPr>
            <p:ph idx="1" type="body"/>
          </p:nvPr>
        </p:nvSpPr>
        <p:spPr>
          <a:xfrm>
            <a:off x="311700" y="753725"/>
            <a:ext cx="8520600" cy="4201500"/>
          </a:xfrm>
          <a:prstGeom prst="rect">
            <a:avLst/>
          </a:prstGeom>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lang="en" sz="3250">
                <a:solidFill>
                  <a:schemeClr val="dk1"/>
                </a:solidFill>
              </a:rPr>
              <a:t>This paper addresses problems in the presentation of parallel performance.</a:t>
            </a:r>
            <a:endParaRPr sz="3250">
              <a:solidFill>
                <a:schemeClr val="dk1"/>
              </a:solidFill>
            </a:endParaRPr>
          </a:p>
          <a:p>
            <a:pPr indent="0" lvl="0" marL="0" rtl="0" algn="l">
              <a:spcBef>
                <a:spcPts val="1200"/>
              </a:spcBef>
              <a:spcAft>
                <a:spcPts val="0"/>
              </a:spcAft>
              <a:buNone/>
            </a:pPr>
            <a:r>
              <a:rPr lang="en" sz="3250">
                <a:solidFill>
                  <a:schemeClr val="dk1"/>
                </a:solidFill>
              </a:rPr>
              <a:t>Presentations often:</a:t>
            </a:r>
            <a:endParaRPr sz="3250">
              <a:solidFill>
                <a:schemeClr val="dk1"/>
              </a:solidFill>
            </a:endParaRPr>
          </a:p>
          <a:p>
            <a:pPr indent="-357584" lvl="0" marL="457200" rtl="0" algn="l">
              <a:lnSpc>
                <a:spcPct val="100000"/>
              </a:lnSpc>
              <a:spcBef>
                <a:spcPts val="1200"/>
              </a:spcBef>
              <a:spcAft>
                <a:spcPts val="0"/>
              </a:spcAft>
              <a:buClr>
                <a:schemeClr val="dk1"/>
              </a:buClr>
              <a:buSzPct val="100000"/>
              <a:buChar char="●"/>
            </a:pPr>
            <a:r>
              <a:rPr lang="en" sz="3250">
                <a:solidFill>
                  <a:schemeClr val="dk1"/>
                </a:solidFill>
              </a:rPr>
              <a:t>Exaggerate or diminish performance differences</a:t>
            </a:r>
            <a:endParaRPr sz="3250">
              <a:solidFill>
                <a:schemeClr val="dk1"/>
              </a:solidFill>
            </a:endParaRPr>
          </a:p>
          <a:p>
            <a:pPr indent="-357584" lvl="0" marL="457200" rtl="0" algn="l">
              <a:lnSpc>
                <a:spcPct val="100000"/>
              </a:lnSpc>
              <a:spcBef>
                <a:spcPts val="1200"/>
              </a:spcBef>
              <a:spcAft>
                <a:spcPts val="0"/>
              </a:spcAft>
              <a:buClr>
                <a:schemeClr val="dk1"/>
              </a:buClr>
              <a:buSzPct val="100000"/>
              <a:buChar char="●"/>
            </a:pPr>
            <a:r>
              <a:rPr lang="en" sz="3250">
                <a:solidFill>
                  <a:schemeClr val="dk1"/>
                </a:solidFill>
              </a:rPr>
              <a:t>Conceal important Performance trends</a:t>
            </a:r>
            <a:endParaRPr sz="3250">
              <a:solidFill>
                <a:schemeClr val="dk1"/>
              </a:solidFill>
            </a:endParaRPr>
          </a:p>
          <a:p>
            <a:pPr indent="-357584" lvl="0" marL="457200" rtl="0" algn="l">
              <a:lnSpc>
                <a:spcPct val="100000"/>
              </a:lnSpc>
              <a:spcBef>
                <a:spcPts val="0"/>
              </a:spcBef>
              <a:spcAft>
                <a:spcPts val="0"/>
              </a:spcAft>
              <a:buClr>
                <a:schemeClr val="dk1"/>
              </a:buClr>
              <a:buSzPct val="100000"/>
              <a:buChar char="●"/>
            </a:pPr>
            <a:r>
              <a:rPr lang="en" sz="3250">
                <a:solidFill>
                  <a:schemeClr val="dk1"/>
                </a:solidFill>
              </a:rPr>
              <a:t>Ignore significant computational costs</a:t>
            </a:r>
            <a:endParaRPr sz="3250">
              <a:solidFill>
                <a:schemeClr val="dk1"/>
              </a:solidFill>
            </a:endParaRPr>
          </a:p>
          <a:p>
            <a:pPr indent="-357584" lvl="0" marL="457200" rtl="0" algn="l">
              <a:lnSpc>
                <a:spcPct val="100000"/>
              </a:lnSpc>
              <a:spcBef>
                <a:spcPts val="0"/>
              </a:spcBef>
              <a:spcAft>
                <a:spcPts val="0"/>
              </a:spcAft>
              <a:buClr>
                <a:schemeClr val="dk1"/>
              </a:buClr>
              <a:buSzPct val="100000"/>
              <a:buChar char="●"/>
            </a:pPr>
            <a:r>
              <a:rPr lang="en" sz="3250">
                <a:solidFill>
                  <a:schemeClr val="dk1"/>
                </a:solidFill>
              </a:rPr>
              <a:t>Introduce distortion unintentionally</a:t>
            </a:r>
            <a:endParaRPr sz="3250">
              <a:solidFill>
                <a:schemeClr val="dk1"/>
              </a:solidFill>
            </a:endParaRPr>
          </a:p>
          <a:p>
            <a:pPr indent="0" lvl="0" marL="0" rtl="0" algn="l">
              <a:spcBef>
                <a:spcPts val="1200"/>
              </a:spcBef>
              <a:spcAft>
                <a:spcPts val="0"/>
              </a:spcAft>
              <a:buNone/>
            </a:pPr>
            <a:r>
              <a:rPr lang="en" sz="3250">
                <a:solidFill>
                  <a:schemeClr val="dk1"/>
                </a:solidFill>
              </a:rPr>
              <a:t>Goal:</a:t>
            </a:r>
            <a:endParaRPr sz="3250">
              <a:solidFill>
                <a:schemeClr val="dk1"/>
              </a:solidFill>
            </a:endParaRPr>
          </a:p>
          <a:p>
            <a:pPr indent="-357584" lvl="0" marL="457200" rtl="0" algn="l">
              <a:spcBef>
                <a:spcPts val="1200"/>
              </a:spcBef>
              <a:spcAft>
                <a:spcPts val="0"/>
              </a:spcAft>
              <a:buClr>
                <a:schemeClr val="dk1"/>
              </a:buClr>
              <a:buSzPct val="100000"/>
              <a:buChar char="●"/>
            </a:pPr>
            <a:r>
              <a:rPr lang="en" sz="3250">
                <a:solidFill>
                  <a:schemeClr val="dk1"/>
                </a:solidFill>
              </a:rPr>
              <a:t>Present information</a:t>
            </a:r>
            <a:endParaRPr sz="3250">
              <a:solidFill>
                <a:schemeClr val="dk1"/>
              </a:solidFill>
            </a:endParaRPr>
          </a:p>
          <a:p>
            <a:pPr indent="-357584" lvl="0" marL="457200" rtl="0" algn="l">
              <a:spcBef>
                <a:spcPts val="0"/>
              </a:spcBef>
              <a:spcAft>
                <a:spcPts val="0"/>
              </a:spcAft>
              <a:buClr>
                <a:schemeClr val="dk1"/>
              </a:buClr>
              <a:buSzPct val="100000"/>
              <a:buChar char="●"/>
            </a:pPr>
            <a:r>
              <a:rPr lang="en" sz="3250">
                <a:solidFill>
                  <a:schemeClr val="dk1"/>
                </a:solidFill>
              </a:rPr>
              <a:t>Use Space/time effectively</a:t>
            </a:r>
            <a:endParaRPr sz="3250">
              <a:solidFill>
                <a:schemeClr val="dk1"/>
              </a:solidFill>
            </a:endParaRPr>
          </a:p>
          <a:p>
            <a:pPr indent="-357584" lvl="0" marL="457200" rtl="0" algn="l">
              <a:spcBef>
                <a:spcPts val="0"/>
              </a:spcBef>
              <a:spcAft>
                <a:spcPts val="0"/>
              </a:spcAft>
              <a:buClr>
                <a:schemeClr val="dk1"/>
              </a:buClr>
              <a:buSzPct val="100000"/>
              <a:buChar char="●"/>
            </a:pPr>
            <a:r>
              <a:rPr lang="en" sz="3250">
                <a:solidFill>
                  <a:schemeClr val="dk1"/>
                </a:solidFill>
              </a:rPr>
              <a:t>Minimize distortion</a:t>
            </a:r>
            <a:endParaRPr sz="3250">
              <a:solidFill>
                <a:schemeClr val="dk1"/>
              </a:solidFill>
            </a:endParaRPr>
          </a:p>
        </p:txBody>
      </p:sp>
      <p:pic>
        <p:nvPicPr>
          <p:cNvPr id="155" name="Google Shape;155;p29" title="Screenshot 2026-02-18 at 7.58.01 AM.png"/>
          <p:cNvPicPr preferRelativeResize="0"/>
          <p:nvPr/>
        </p:nvPicPr>
        <p:blipFill>
          <a:blip r:embed="rId3">
            <a:alphaModFix/>
          </a:blip>
          <a:stretch>
            <a:fillRect/>
          </a:stretch>
        </p:blipFill>
        <p:spPr>
          <a:xfrm>
            <a:off x="5442425" y="2426625"/>
            <a:ext cx="3330101" cy="25286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idx="1" type="body"/>
          </p:nvPr>
        </p:nvSpPr>
        <p:spPr>
          <a:xfrm>
            <a:off x="4572000" y="369250"/>
            <a:ext cx="4359000" cy="4323600"/>
          </a:xfrm>
          <a:prstGeom prst="rect">
            <a:avLst/>
          </a:prstGeom>
        </p:spPr>
        <p:txBody>
          <a:bodyPr anchorCtr="0" anchor="t" bIns="91425" lIns="91425" spcFirstLastPara="1" rIns="91425" wrap="square" tIns="91425">
            <a:normAutofit fontScale="70000" lnSpcReduction="20000"/>
          </a:bodyPr>
          <a:lstStyle/>
          <a:p>
            <a:pPr indent="0" lvl="0" marL="0" marR="0" rtl="0" algn="l">
              <a:lnSpc>
                <a:spcPct val="100000"/>
              </a:lnSpc>
              <a:spcBef>
                <a:spcPts val="0"/>
              </a:spcBef>
              <a:spcAft>
                <a:spcPts val="0"/>
              </a:spcAft>
              <a:buNone/>
            </a:pPr>
            <a:r>
              <a:rPr b="1" lang="en" sz="1978">
                <a:solidFill>
                  <a:schemeClr val="dk1"/>
                </a:solidFill>
              </a:rPr>
              <a:t>Present Elapsed Time</a:t>
            </a:r>
            <a:endParaRPr b="1" sz="19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Present elapsed time.</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Avoid presenting speedup where possible because:</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Speedup is a derivative measure</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It depends on the chosen sequential baseline</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Different </a:t>
            </a:r>
            <a:r>
              <a:rPr lang="en" sz="1578">
                <a:solidFill>
                  <a:schemeClr val="dk1"/>
                </a:solidFill>
              </a:rPr>
              <a:t>derivations</a:t>
            </a:r>
            <a:r>
              <a:rPr lang="en" sz="1578">
                <a:solidFill>
                  <a:schemeClr val="dk1"/>
                </a:solidFill>
              </a:rPr>
              <a:t> can lead to different conclusions</a:t>
            </a:r>
            <a:endParaRPr sz="1578">
              <a:solidFill>
                <a:schemeClr val="dk1"/>
              </a:solidFill>
            </a:endParaRPr>
          </a:p>
          <a:p>
            <a:pPr indent="0" lvl="0" marL="45720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Present elapsed time directly to avoid undocumented derivations.</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b="1" lang="en" sz="1978">
                <a:solidFill>
                  <a:schemeClr val="dk1"/>
                </a:solidFill>
              </a:rPr>
              <a:t>Compare</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Parallel performance depends on many independent variables.</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Algorithms</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Parallelization</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Programming System</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Machine architecture</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Problem Size</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Number of processors</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To avoid distortion:</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Change as few independent variables as possible</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Document all changes clearly</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Compare systems under controlled conditions</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p:txBody>
      </p:sp>
      <p:sp>
        <p:nvSpPr>
          <p:cNvPr id="161" name="Google Shape;161;p30"/>
          <p:cNvSpPr txBox="1"/>
          <p:nvPr>
            <p:ph idx="1" type="body"/>
          </p:nvPr>
        </p:nvSpPr>
        <p:spPr>
          <a:xfrm>
            <a:off x="114250" y="369250"/>
            <a:ext cx="4359000" cy="4323600"/>
          </a:xfrm>
          <a:prstGeom prst="rect">
            <a:avLst/>
          </a:prstGeom>
        </p:spPr>
        <p:txBody>
          <a:bodyPr anchorCtr="0" anchor="t" bIns="91425" lIns="91425" spcFirstLastPara="1" rIns="91425" wrap="square" tIns="91425">
            <a:normAutofit fontScale="70000" lnSpcReduction="20000"/>
          </a:bodyPr>
          <a:lstStyle/>
          <a:p>
            <a:pPr indent="0" lvl="0" marL="0" marR="0" rtl="0" algn="l">
              <a:lnSpc>
                <a:spcPct val="100000"/>
              </a:lnSpc>
              <a:spcBef>
                <a:spcPts val="0"/>
              </a:spcBef>
              <a:spcAft>
                <a:spcPts val="0"/>
              </a:spcAft>
              <a:buNone/>
            </a:pPr>
            <a:r>
              <a:rPr b="1" lang="en" sz="2278">
                <a:solidFill>
                  <a:schemeClr val="dk1"/>
                </a:solidFill>
              </a:rPr>
              <a:t>Measure Elapsed Time</a:t>
            </a:r>
            <a:endParaRPr b="1" sz="2278">
              <a:solidFill>
                <a:schemeClr val="dk1"/>
              </a:solidFill>
            </a:endParaRPr>
          </a:p>
          <a:p>
            <a:pPr indent="0" lvl="0" marL="0" marR="0" rtl="0" algn="l">
              <a:lnSpc>
                <a:spcPct val="100000"/>
              </a:lnSpc>
              <a:spcBef>
                <a:spcPts val="0"/>
              </a:spcBef>
              <a:spcAft>
                <a:spcPts val="0"/>
              </a:spcAft>
              <a:buNone/>
            </a:pPr>
            <a:r>
              <a:t/>
            </a:r>
            <a:endParaRPr b="1" sz="2278">
              <a:solidFill>
                <a:schemeClr val="dk1"/>
              </a:solidFill>
            </a:endParaRPr>
          </a:p>
          <a:p>
            <a:pPr indent="0" lvl="0" marL="0" marR="0" rtl="0" algn="l">
              <a:lnSpc>
                <a:spcPct val="100000"/>
              </a:lnSpc>
              <a:spcBef>
                <a:spcPts val="0"/>
              </a:spcBef>
              <a:spcAft>
                <a:spcPts val="0"/>
              </a:spcAft>
              <a:buNone/>
            </a:pPr>
            <a:r>
              <a:rPr lang="en" sz="1578">
                <a:solidFill>
                  <a:schemeClr val="dk1"/>
                </a:solidFill>
              </a:rPr>
              <a:t>Single process CPU time may be misleading.</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CPU time measures only active computation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Elapsed</a:t>
            </a:r>
            <a:r>
              <a:rPr lang="en" sz="1578">
                <a:solidFill>
                  <a:schemeClr val="dk1"/>
                </a:solidFill>
              </a:rPr>
              <a:t> time measures total time to solution</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Elapsed time includes:</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Computation</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Lock waiting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Synchronization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Cache coherence overhead</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Paging and I/O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Operating system scheduling </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Parallel execution time is not deterministic.</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Measure multiple runs</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Report mean and variance</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High Variance may indicate contention</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Then:</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0" lvl="0" marL="0" marR="0" rtl="0" algn="l">
              <a:lnSpc>
                <a:spcPct val="100000"/>
              </a:lnSpc>
              <a:spcBef>
                <a:spcPts val="0"/>
              </a:spcBef>
              <a:spcAft>
                <a:spcPts val="0"/>
              </a:spcAft>
              <a:buNone/>
            </a:pPr>
            <a:r>
              <a:rPr lang="en" sz="1578">
                <a:solidFill>
                  <a:schemeClr val="dk1"/>
                </a:solidFill>
              </a:rPr>
              <a:t>Cache Measurement strategies:</a:t>
            </a:r>
            <a:endParaRPr sz="1578">
              <a:solidFill>
                <a:schemeClr val="dk1"/>
              </a:solidFill>
            </a:endParaRPr>
          </a:p>
          <a:p>
            <a:pPr indent="0" lvl="0" marL="0" marR="0" rtl="0" algn="l">
              <a:lnSpc>
                <a:spcPct val="100000"/>
              </a:lnSpc>
              <a:spcBef>
                <a:spcPts val="0"/>
              </a:spcBef>
              <a:spcAft>
                <a:spcPts val="0"/>
              </a:spcAft>
              <a:buNone/>
            </a:pPr>
            <a:r>
              <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Measure Stable cache behavior</a:t>
            </a:r>
            <a:endParaRPr sz="1578">
              <a:solidFill>
                <a:schemeClr val="dk1"/>
              </a:solidFill>
            </a:endParaRPr>
          </a:p>
          <a:p>
            <a:pPr indent="-298742" lvl="0" marL="457200" marR="0" rtl="0" algn="l">
              <a:lnSpc>
                <a:spcPct val="100000"/>
              </a:lnSpc>
              <a:spcBef>
                <a:spcPts val="0"/>
              </a:spcBef>
              <a:spcAft>
                <a:spcPts val="0"/>
              </a:spcAft>
              <a:buClr>
                <a:schemeClr val="dk1"/>
              </a:buClr>
              <a:buSzPct val="100000"/>
              <a:buChar char="●"/>
            </a:pPr>
            <a:r>
              <a:rPr lang="en" sz="1578">
                <a:solidFill>
                  <a:schemeClr val="dk1"/>
                </a:solidFill>
              </a:rPr>
              <a:t>Measure transient Caches</a:t>
            </a:r>
            <a:endParaRPr sz="2278">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990"/>
              <a:buFont typeface="Arial"/>
              <a:buNone/>
            </a:pPr>
            <a:r>
              <a:rPr b="1" lang="en" sz="2420"/>
              <a:t>CPU Time vs Elapsed Time</a:t>
            </a:r>
            <a:endParaRPr b="1" sz="2420"/>
          </a:p>
        </p:txBody>
      </p:sp>
      <p:sp>
        <p:nvSpPr>
          <p:cNvPr id="167" name="Google Shape;167;p31"/>
          <p:cNvSpPr txBox="1"/>
          <p:nvPr>
            <p:ph idx="1" type="body"/>
          </p:nvPr>
        </p:nvSpPr>
        <p:spPr>
          <a:xfrm>
            <a:off x="5145975" y="1152475"/>
            <a:ext cx="3686400" cy="334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8" name="Google Shape;168;p31" title="Screenshot 2026-02-17 at 7.55.09 PM.png"/>
          <p:cNvPicPr preferRelativeResize="0"/>
          <p:nvPr/>
        </p:nvPicPr>
        <p:blipFill>
          <a:blip r:embed="rId3">
            <a:alphaModFix/>
          </a:blip>
          <a:stretch>
            <a:fillRect/>
          </a:stretch>
        </p:blipFill>
        <p:spPr>
          <a:xfrm>
            <a:off x="5145975" y="1172661"/>
            <a:ext cx="3352775" cy="3144564"/>
          </a:xfrm>
          <a:prstGeom prst="rect">
            <a:avLst/>
          </a:prstGeom>
          <a:noFill/>
          <a:ln>
            <a:noFill/>
          </a:ln>
        </p:spPr>
      </p:pic>
      <p:sp>
        <p:nvSpPr>
          <p:cNvPr id="169" name="Google Shape;169;p31"/>
          <p:cNvSpPr txBox="1"/>
          <p:nvPr>
            <p:ph idx="1" type="body"/>
          </p:nvPr>
        </p:nvSpPr>
        <p:spPr>
          <a:xfrm>
            <a:off x="440350" y="1152475"/>
            <a:ext cx="4705500" cy="3342600"/>
          </a:xfrm>
          <a:prstGeom prst="rect">
            <a:avLst/>
          </a:prstGeom>
        </p:spPr>
        <p:txBody>
          <a:bodyPr anchorCtr="0" anchor="t" bIns="91425" lIns="91425" spcFirstLastPara="1" rIns="91425" wrap="square" tIns="91425">
            <a:normAutofit fontScale="55000" lnSpcReduction="20000"/>
          </a:bodyPr>
          <a:lstStyle/>
          <a:p>
            <a:pPr indent="0" lvl="0" marL="0" rtl="0" algn="l">
              <a:lnSpc>
                <a:spcPct val="100000"/>
              </a:lnSpc>
              <a:spcBef>
                <a:spcPts val="0"/>
              </a:spcBef>
              <a:spcAft>
                <a:spcPts val="0"/>
              </a:spcAft>
              <a:buNone/>
            </a:pPr>
            <a:r>
              <a:rPr lang="en" sz="2420">
                <a:solidFill>
                  <a:schemeClr val="dk1"/>
                </a:solidFill>
              </a:rPr>
              <a:t>CPU time and elapsed time </a:t>
            </a:r>
            <a:r>
              <a:rPr lang="en" sz="2420">
                <a:solidFill>
                  <a:schemeClr val="dk1"/>
                </a:solidFill>
              </a:rPr>
              <a:t>behave</a:t>
            </a:r>
            <a:r>
              <a:rPr lang="en" sz="2420">
                <a:solidFill>
                  <a:schemeClr val="dk1"/>
                </a:solidFill>
              </a:rPr>
              <a:t> </a:t>
            </a:r>
            <a:r>
              <a:rPr lang="en" sz="2420">
                <a:solidFill>
                  <a:schemeClr val="dk1"/>
                </a:solidFill>
              </a:rPr>
              <a:t>differently</a:t>
            </a:r>
            <a:r>
              <a:rPr lang="en" sz="2420">
                <a:solidFill>
                  <a:schemeClr val="dk1"/>
                </a:solidFill>
              </a:rPr>
              <a:t> in parallel systems.</a:t>
            </a:r>
            <a:endParaRPr sz="2420">
              <a:solidFill>
                <a:schemeClr val="dk1"/>
              </a:solidFill>
            </a:endParaRPr>
          </a:p>
          <a:p>
            <a:pPr indent="0" lvl="0" marL="0" rtl="0" algn="l">
              <a:lnSpc>
                <a:spcPct val="100000"/>
              </a:lnSpc>
              <a:spcBef>
                <a:spcPts val="0"/>
              </a:spcBef>
              <a:spcAft>
                <a:spcPts val="0"/>
              </a:spcAft>
              <a:buNone/>
            </a:pPr>
            <a:r>
              <a:t/>
            </a:r>
            <a:endParaRPr sz="2420">
              <a:solidFill>
                <a:schemeClr val="dk1"/>
              </a:solidFill>
            </a:endParaRPr>
          </a:p>
          <a:p>
            <a:pPr indent="0" lvl="0" marL="0" rtl="0" algn="l">
              <a:lnSpc>
                <a:spcPct val="100000"/>
              </a:lnSpc>
              <a:spcBef>
                <a:spcPts val="0"/>
              </a:spcBef>
              <a:spcAft>
                <a:spcPts val="0"/>
              </a:spcAft>
              <a:buNone/>
            </a:pPr>
            <a:r>
              <a:rPr lang="en" sz="2420">
                <a:solidFill>
                  <a:schemeClr val="dk1"/>
                </a:solidFill>
              </a:rPr>
              <a:t>CPU time often decreases smoothly with processors.</a:t>
            </a:r>
            <a:endParaRPr sz="2420">
              <a:solidFill>
                <a:schemeClr val="dk1"/>
              </a:solidFill>
            </a:endParaRPr>
          </a:p>
          <a:p>
            <a:pPr indent="0" lvl="0" marL="0" rtl="0" algn="l">
              <a:lnSpc>
                <a:spcPct val="100000"/>
              </a:lnSpc>
              <a:spcBef>
                <a:spcPts val="0"/>
              </a:spcBef>
              <a:spcAft>
                <a:spcPts val="0"/>
              </a:spcAft>
              <a:buClr>
                <a:schemeClr val="dk1"/>
              </a:buClr>
              <a:buSzPct val="45455"/>
              <a:buFont typeface="Arial"/>
              <a:buNone/>
            </a:pPr>
            <a:r>
              <a:t/>
            </a:r>
            <a:endParaRPr sz="2420">
              <a:solidFill>
                <a:schemeClr val="dk1"/>
              </a:solidFill>
            </a:endParaRPr>
          </a:p>
          <a:p>
            <a:pPr indent="0" lvl="0" marL="0" rtl="0" algn="l">
              <a:lnSpc>
                <a:spcPct val="100000"/>
              </a:lnSpc>
              <a:spcBef>
                <a:spcPts val="0"/>
              </a:spcBef>
              <a:spcAft>
                <a:spcPts val="0"/>
              </a:spcAft>
              <a:buNone/>
            </a:pPr>
            <a:r>
              <a:rPr lang="en" sz="2420">
                <a:solidFill>
                  <a:schemeClr val="dk1"/>
                </a:solidFill>
              </a:rPr>
              <a:t>Elapsed time behaves differently.</a:t>
            </a:r>
            <a:endParaRPr sz="2420">
              <a:solidFill>
                <a:schemeClr val="dk1"/>
              </a:solidFill>
            </a:endParaRPr>
          </a:p>
          <a:p>
            <a:pPr indent="0" lvl="0" marL="0" rtl="0" algn="l">
              <a:lnSpc>
                <a:spcPct val="100000"/>
              </a:lnSpc>
              <a:spcBef>
                <a:spcPts val="0"/>
              </a:spcBef>
              <a:spcAft>
                <a:spcPts val="0"/>
              </a:spcAft>
              <a:buNone/>
            </a:pPr>
            <a:r>
              <a:t/>
            </a:r>
            <a:endParaRPr sz="2420">
              <a:solidFill>
                <a:schemeClr val="dk1"/>
              </a:solidFill>
            </a:endParaRPr>
          </a:p>
          <a:p>
            <a:pPr indent="0" lvl="0" marL="0" rtl="0" algn="l">
              <a:lnSpc>
                <a:spcPct val="100000"/>
              </a:lnSpc>
              <a:spcBef>
                <a:spcPts val="0"/>
              </a:spcBef>
              <a:spcAft>
                <a:spcPts val="0"/>
              </a:spcAft>
              <a:buNone/>
            </a:pPr>
            <a:r>
              <a:rPr lang="en" sz="2420">
                <a:solidFill>
                  <a:schemeClr val="dk1"/>
                </a:solidFill>
              </a:rPr>
              <a:t>Parallel </a:t>
            </a:r>
            <a:r>
              <a:rPr lang="en" sz="2420">
                <a:solidFill>
                  <a:schemeClr val="dk1"/>
                </a:solidFill>
              </a:rPr>
              <a:t>coordination</a:t>
            </a:r>
            <a:r>
              <a:rPr lang="en" sz="2420">
                <a:solidFill>
                  <a:schemeClr val="dk1"/>
                </a:solidFill>
              </a:rPr>
              <a:t> overhead includes:</a:t>
            </a:r>
            <a:endParaRPr sz="2420">
              <a:solidFill>
                <a:schemeClr val="dk1"/>
              </a:solidFill>
            </a:endParaRPr>
          </a:p>
          <a:p>
            <a:pPr indent="-313119" lvl="0" marL="457200" marR="0" rtl="0" algn="l">
              <a:lnSpc>
                <a:spcPct val="150000"/>
              </a:lnSpc>
              <a:spcBef>
                <a:spcPts val="1200"/>
              </a:spcBef>
              <a:spcAft>
                <a:spcPts val="0"/>
              </a:spcAft>
              <a:buClr>
                <a:schemeClr val="dk1"/>
              </a:buClr>
              <a:buSzPct val="100000"/>
              <a:buChar char="●"/>
            </a:pPr>
            <a:r>
              <a:rPr lang="en" sz="2420">
                <a:solidFill>
                  <a:schemeClr val="dk1"/>
                </a:solidFill>
              </a:rPr>
              <a:t>Lock contention</a:t>
            </a:r>
            <a:endParaRPr sz="2420">
              <a:solidFill>
                <a:schemeClr val="dk1"/>
              </a:solidFill>
            </a:endParaRPr>
          </a:p>
          <a:p>
            <a:pPr indent="-313119" lvl="0" marL="457200" marR="0" rtl="0" algn="l">
              <a:lnSpc>
                <a:spcPct val="150000"/>
              </a:lnSpc>
              <a:spcBef>
                <a:spcPts val="0"/>
              </a:spcBef>
              <a:spcAft>
                <a:spcPts val="0"/>
              </a:spcAft>
              <a:buClr>
                <a:schemeClr val="dk1"/>
              </a:buClr>
              <a:buSzPct val="100000"/>
              <a:buChar char="●"/>
            </a:pPr>
            <a:r>
              <a:rPr lang="en" sz="2420">
                <a:solidFill>
                  <a:schemeClr val="dk1"/>
                </a:solidFill>
              </a:rPr>
              <a:t>Synchronization barriers</a:t>
            </a:r>
            <a:endParaRPr sz="2420">
              <a:solidFill>
                <a:schemeClr val="dk1"/>
              </a:solidFill>
            </a:endParaRPr>
          </a:p>
          <a:p>
            <a:pPr indent="-313119" lvl="0" marL="457200" marR="0" rtl="0" algn="l">
              <a:lnSpc>
                <a:spcPct val="150000"/>
              </a:lnSpc>
              <a:spcBef>
                <a:spcPts val="0"/>
              </a:spcBef>
              <a:spcAft>
                <a:spcPts val="0"/>
              </a:spcAft>
              <a:buClr>
                <a:schemeClr val="dk1"/>
              </a:buClr>
              <a:buSzPct val="100000"/>
              <a:buChar char="●"/>
            </a:pPr>
            <a:r>
              <a:rPr lang="en" sz="2420">
                <a:solidFill>
                  <a:schemeClr val="dk1"/>
                </a:solidFill>
              </a:rPr>
              <a:t>Cache Coherence Traffic</a:t>
            </a:r>
            <a:endParaRPr sz="2420">
              <a:solidFill>
                <a:schemeClr val="dk1"/>
              </a:solidFill>
            </a:endParaRPr>
          </a:p>
          <a:p>
            <a:pPr indent="-313119" lvl="0" marL="457200" marR="0" rtl="0" algn="l">
              <a:lnSpc>
                <a:spcPct val="150000"/>
              </a:lnSpc>
              <a:spcBef>
                <a:spcPts val="0"/>
              </a:spcBef>
              <a:spcAft>
                <a:spcPts val="0"/>
              </a:spcAft>
              <a:buClr>
                <a:schemeClr val="dk1"/>
              </a:buClr>
              <a:buSzPct val="100000"/>
              <a:buChar char="●"/>
            </a:pPr>
            <a:r>
              <a:rPr lang="en" sz="2420">
                <a:solidFill>
                  <a:schemeClr val="dk1"/>
                </a:solidFill>
              </a:rPr>
              <a:t>Paging delays</a:t>
            </a:r>
            <a:endParaRPr sz="2420">
              <a:solidFill>
                <a:schemeClr val="dk1"/>
              </a:solidFill>
            </a:endParaRPr>
          </a:p>
          <a:p>
            <a:pPr indent="-313119" lvl="0" marL="457200" marR="0" rtl="0" algn="l">
              <a:lnSpc>
                <a:spcPct val="150000"/>
              </a:lnSpc>
              <a:spcBef>
                <a:spcPts val="0"/>
              </a:spcBef>
              <a:spcAft>
                <a:spcPts val="0"/>
              </a:spcAft>
              <a:buClr>
                <a:schemeClr val="dk1"/>
              </a:buClr>
              <a:buSzPct val="100000"/>
              <a:buChar char="●"/>
            </a:pPr>
            <a:r>
              <a:rPr lang="en" sz="2420">
                <a:solidFill>
                  <a:schemeClr val="dk1"/>
                </a:solidFill>
              </a:rPr>
              <a:t>OS scheduling</a:t>
            </a:r>
            <a:endParaRPr sz="2420">
              <a:solidFill>
                <a:schemeClr val="dk1"/>
              </a:solidFill>
            </a:endParaRPr>
          </a:p>
          <a:p>
            <a:pPr indent="0" lvl="0" marL="0" marR="0" rtl="0" algn="l">
              <a:lnSpc>
                <a:spcPct val="150000"/>
              </a:lnSpc>
              <a:spcBef>
                <a:spcPts val="1200"/>
              </a:spcBef>
              <a:spcAft>
                <a:spcPts val="1200"/>
              </a:spcAft>
              <a:buNone/>
            </a:pPr>
            <a:r>
              <a:rPr lang="en" sz="2420">
                <a:solidFill>
                  <a:schemeClr val="dk1"/>
                </a:solidFill>
              </a:rPr>
              <a:t>Elapsed time reflects true system-level performance </a:t>
            </a:r>
            <a:endParaRPr sz="242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idx="1" type="body"/>
          </p:nvPr>
        </p:nvSpPr>
        <p:spPr>
          <a:xfrm>
            <a:off x="4461275" y="257900"/>
            <a:ext cx="4338000" cy="409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5" name="Google Shape;175;p32"/>
          <p:cNvPicPr preferRelativeResize="0"/>
          <p:nvPr/>
        </p:nvPicPr>
        <p:blipFill>
          <a:blip r:embed="rId3">
            <a:alphaModFix/>
          </a:blip>
          <a:stretch>
            <a:fillRect/>
          </a:stretch>
        </p:blipFill>
        <p:spPr>
          <a:xfrm>
            <a:off x="4572000" y="359700"/>
            <a:ext cx="3902100" cy="3892465"/>
          </a:xfrm>
          <a:prstGeom prst="rect">
            <a:avLst/>
          </a:prstGeom>
          <a:noFill/>
          <a:ln>
            <a:noFill/>
          </a:ln>
        </p:spPr>
      </p:pic>
      <p:sp>
        <p:nvSpPr>
          <p:cNvPr id="176" name="Google Shape;176;p32"/>
          <p:cNvSpPr txBox="1"/>
          <p:nvPr>
            <p:ph idx="1" type="body"/>
          </p:nvPr>
        </p:nvSpPr>
        <p:spPr>
          <a:xfrm>
            <a:off x="51200" y="257900"/>
            <a:ext cx="4338000" cy="4092900"/>
          </a:xfrm>
          <a:prstGeom prst="rect">
            <a:avLst/>
          </a:prstGeom>
        </p:spPr>
        <p:txBody>
          <a:bodyPr anchorCtr="0" anchor="t" bIns="91425" lIns="91425" spcFirstLastPara="1" rIns="91425" wrap="square" tIns="91425">
            <a:normAutofit fontScale="70000" lnSpcReduction="20000"/>
          </a:bodyPr>
          <a:lstStyle/>
          <a:p>
            <a:pPr indent="0" lvl="0" marL="0" rtl="0" algn="l">
              <a:spcBef>
                <a:spcPts val="1200"/>
              </a:spcBef>
              <a:spcAft>
                <a:spcPts val="0"/>
              </a:spcAft>
              <a:buNone/>
            </a:pPr>
            <a:r>
              <a:rPr b="1" lang="en" sz="2420">
                <a:solidFill>
                  <a:schemeClr val="dk1"/>
                </a:solidFill>
              </a:rPr>
              <a:t>Variance Predicts Scalability Instability</a:t>
            </a:r>
            <a:endParaRPr b="1" sz="2220">
              <a:solidFill>
                <a:schemeClr val="dk1"/>
              </a:solidFill>
            </a:endParaRPr>
          </a:p>
          <a:p>
            <a:pPr indent="0" lvl="0" marL="0" rtl="0" algn="l">
              <a:lnSpc>
                <a:spcPct val="100000"/>
              </a:lnSpc>
              <a:spcBef>
                <a:spcPts val="1200"/>
              </a:spcBef>
              <a:spcAft>
                <a:spcPts val="0"/>
              </a:spcAft>
              <a:buNone/>
            </a:pPr>
            <a:r>
              <a:rPr lang="en" sz="2420">
                <a:solidFill>
                  <a:schemeClr val="dk1"/>
                </a:solidFill>
              </a:rPr>
              <a:t>Growing variance signals:</a:t>
            </a:r>
            <a:endParaRPr sz="2420">
              <a:solidFill>
                <a:schemeClr val="dk1"/>
              </a:solidFill>
            </a:endParaRPr>
          </a:p>
          <a:p>
            <a:pPr indent="0" lvl="0" marL="0" rtl="0" algn="l">
              <a:lnSpc>
                <a:spcPct val="100000"/>
              </a:lnSpc>
              <a:spcBef>
                <a:spcPts val="1200"/>
              </a:spcBef>
              <a:spcAft>
                <a:spcPts val="0"/>
              </a:spcAft>
              <a:buNone/>
            </a:pPr>
            <a:r>
              <a:t/>
            </a:r>
            <a:endParaRPr sz="2420">
              <a:solidFill>
                <a:schemeClr val="dk1"/>
              </a:solidFill>
            </a:endParaRPr>
          </a:p>
          <a:p>
            <a:pPr indent="-336169" lvl="0" marL="457200" marR="0" rtl="0" algn="l">
              <a:lnSpc>
                <a:spcPct val="150000"/>
              </a:lnSpc>
              <a:spcBef>
                <a:spcPts val="0"/>
              </a:spcBef>
              <a:spcAft>
                <a:spcPts val="0"/>
              </a:spcAft>
              <a:buClr>
                <a:schemeClr val="dk1"/>
              </a:buClr>
              <a:buSzPct val="100000"/>
              <a:buChar char="●"/>
            </a:pPr>
            <a:r>
              <a:rPr lang="en" sz="2420">
                <a:solidFill>
                  <a:schemeClr val="dk1"/>
                </a:solidFill>
              </a:rPr>
              <a:t>Contention amplification</a:t>
            </a:r>
            <a:endParaRPr sz="2420">
              <a:solidFill>
                <a:schemeClr val="dk1"/>
              </a:solidFill>
            </a:endParaRPr>
          </a:p>
          <a:p>
            <a:pPr indent="-336169" lvl="0" marL="457200" marR="0" rtl="0" algn="l">
              <a:lnSpc>
                <a:spcPct val="150000"/>
              </a:lnSpc>
              <a:spcBef>
                <a:spcPts val="0"/>
              </a:spcBef>
              <a:spcAft>
                <a:spcPts val="0"/>
              </a:spcAft>
              <a:buClr>
                <a:schemeClr val="dk1"/>
              </a:buClr>
              <a:buSzPct val="100000"/>
              <a:buChar char="●"/>
            </a:pPr>
            <a:r>
              <a:rPr lang="en" sz="2420">
                <a:solidFill>
                  <a:schemeClr val="dk1"/>
                </a:solidFill>
              </a:rPr>
              <a:t>Synchronization pressure</a:t>
            </a:r>
            <a:endParaRPr sz="2420">
              <a:solidFill>
                <a:schemeClr val="dk1"/>
              </a:solidFill>
            </a:endParaRPr>
          </a:p>
          <a:p>
            <a:pPr indent="-336169" lvl="0" marL="457200" marR="0" rtl="0" algn="l">
              <a:lnSpc>
                <a:spcPct val="150000"/>
              </a:lnSpc>
              <a:spcBef>
                <a:spcPts val="0"/>
              </a:spcBef>
              <a:spcAft>
                <a:spcPts val="0"/>
              </a:spcAft>
              <a:buClr>
                <a:schemeClr val="dk1"/>
              </a:buClr>
              <a:buSzPct val="100000"/>
              <a:buChar char="●"/>
            </a:pPr>
            <a:r>
              <a:rPr lang="en" sz="2420">
                <a:solidFill>
                  <a:schemeClr val="dk1"/>
                </a:solidFill>
              </a:rPr>
              <a:t>Resource interference</a:t>
            </a:r>
            <a:endParaRPr sz="2420">
              <a:solidFill>
                <a:schemeClr val="dk1"/>
              </a:solidFill>
            </a:endParaRPr>
          </a:p>
          <a:p>
            <a:pPr indent="-336169" lvl="0" marL="457200" marR="0" rtl="0" algn="l">
              <a:lnSpc>
                <a:spcPct val="150000"/>
              </a:lnSpc>
              <a:spcBef>
                <a:spcPts val="0"/>
              </a:spcBef>
              <a:spcAft>
                <a:spcPts val="0"/>
              </a:spcAft>
              <a:buClr>
                <a:schemeClr val="dk1"/>
              </a:buClr>
              <a:buSzPct val="100000"/>
              <a:buChar char="●"/>
            </a:pPr>
            <a:r>
              <a:rPr lang="en" sz="2420">
                <a:solidFill>
                  <a:schemeClr val="dk1"/>
                </a:solidFill>
              </a:rPr>
              <a:t>Lock convoying</a:t>
            </a:r>
            <a:endParaRPr sz="2220">
              <a:solidFill>
                <a:schemeClr val="dk1"/>
              </a:solidFill>
            </a:endParaRPr>
          </a:p>
          <a:p>
            <a:pPr indent="0" lvl="0" marL="0" rtl="0" algn="l">
              <a:spcBef>
                <a:spcPts val="1200"/>
              </a:spcBef>
              <a:spcAft>
                <a:spcPts val="0"/>
              </a:spcAft>
              <a:buNone/>
            </a:pPr>
            <a:r>
              <a:rPr lang="en" sz="2420">
                <a:solidFill>
                  <a:schemeClr val="dk1"/>
                </a:solidFill>
              </a:rPr>
              <a:t>Then:</a:t>
            </a:r>
            <a:endParaRPr sz="2420">
              <a:solidFill>
                <a:schemeClr val="dk1"/>
              </a:solidFill>
            </a:endParaRPr>
          </a:p>
          <a:p>
            <a:pPr indent="-336169" lvl="0" marL="457200" rtl="0" algn="l">
              <a:spcBef>
                <a:spcPts val="0"/>
              </a:spcBef>
              <a:spcAft>
                <a:spcPts val="0"/>
              </a:spcAft>
              <a:buClr>
                <a:schemeClr val="dk1"/>
              </a:buClr>
              <a:buSzPct val="100000"/>
              <a:buChar char="●"/>
            </a:pPr>
            <a:r>
              <a:rPr lang="en" sz="2420">
                <a:solidFill>
                  <a:schemeClr val="dk1"/>
                </a:solidFill>
              </a:rPr>
              <a:t>Execution time variance must be reported.</a:t>
            </a:r>
            <a:endParaRPr sz="2420">
              <a:solidFill>
                <a:schemeClr val="dk1"/>
              </a:solidFill>
            </a:endParaRPr>
          </a:p>
          <a:p>
            <a:pPr indent="-336169" lvl="0" marL="457200" rtl="0" algn="l">
              <a:spcBef>
                <a:spcPts val="0"/>
              </a:spcBef>
              <a:spcAft>
                <a:spcPts val="0"/>
              </a:spcAft>
              <a:buClr>
                <a:schemeClr val="dk1"/>
              </a:buClr>
              <a:buSzPct val="100000"/>
              <a:buChar char="●"/>
            </a:pPr>
            <a:r>
              <a:rPr lang="en" sz="2420">
                <a:solidFill>
                  <a:schemeClr val="dk1"/>
                </a:solidFill>
              </a:rPr>
              <a:t>High Variance may indicate structural scalability problems</a:t>
            </a:r>
            <a:endParaRPr sz="242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Log-Log Time Reveals True Scaling Geometry</a:t>
            </a:r>
            <a:endParaRPr/>
          </a:p>
        </p:txBody>
      </p:sp>
      <p:pic>
        <p:nvPicPr>
          <p:cNvPr id="182" name="Google Shape;182;p33"/>
          <p:cNvPicPr preferRelativeResize="0"/>
          <p:nvPr/>
        </p:nvPicPr>
        <p:blipFill>
          <a:blip r:embed="rId3">
            <a:alphaModFix/>
          </a:blip>
          <a:stretch>
            <a:fillRect/>
          </a:stretch>
        </p:blipFill>
        <p:spPr>
          <a:xfrm>
            <a:off x="908450" y="1198850"/>
            <a:ext cx="7010401" cy="35518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idx="1" type="body"/>
          </p:nvPr>
        </p:nvSpPr>
        <p:spPr>
          <a:xfrm>
            <a:off x="311700" y="245400"/>
            <a:ext cx="8520600" cy="432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Linear time plots:</a:t>
            </a:r>
            <a:endParaRPr b="1"/>
          </a:p>
          <a:p>
            <a:pPr indent="-342900" lvl="0" marL="457200" rtl="0" algn="l">
              <a:spcBef>
                <a:spcPts val="1200"/>
              </a:spcBef>
              <a:spcAft>
                <a:spcPts val="0"/>
              </a:spcAft>
              <a:buSzPts val="1800"/>
              <a:buChar char="●"/>
            </a:pPr>
            <a:r>
              <a:rPr lang="en"/>
              <a:t>Hide qualitative changes</a:t>
            </a:r>
            <a:endParaRPr/>
          </a:p>
          <a:p>
            <a:pPr indent="-342900" lvl="0" marL="457200" rtl="0" algn="l">
              <a:spcBef>
                <a:spcPts val="0"/>
              </a:spcBef>
              <a:spcAft>
                <a:spcPts val="0"/>
              </a:spcAft>
              <a:buSzPts val="1800"/>
              <a:buChar char="●"/>
            </a:pPr>
            <a:r>
              <a:rPr lang="en"/>
              <a:t>Compress high processor counts </a:t>
            </a:r>
            <a:endParaRPr/>
          </a:p>
          <a:p>
            <a:pPr indent="-342900" lvl="0" marL="457200" rtl="0" algn="l">
              <a:spcBef>
                <a:spcPts val="0"/>
              </a:spcBef>
              <a:spcAft>
                <a:spcPts val="0"/>
              </a:spcAft>
              <a:buSzPts val="1800"/>
              <a:buChar char="●"/>
            </a:pPr>
            <a:r>
              <a:rPr lang="en"/>
              <a:t>Make linear scaling appear nonlinear</a:t>
            </a:r>
            <a:endParaRPr/>
          </a:p>
          <a:p>
            <a:pPr indent="0" lvl="0" marL="0" rtl="0" algn="l">
              <a:spcBef>
                <a:spcPts val="1200"/>
              </a:spcBef>
              <a:spcAft>
                <a:spcPts val="0"/>
              </a:spcAft>
              <a:buNone/>
            </a:pPr>
            <a:r>
              <a:rPr b="1" lang="en"/>
              <a:t>Log-Log time plots:</a:t>
            </a:r>
            <a:endParaRPr b="1"/>
          </a:p>
          <a:p>
            <a:pPr indent="-342900" lvl="0" marL="457200" rtl="0" algn="l">
              <a:spcBef>
                <a:spcPts val="1200"/>
              </a:spcBef>
              <a:spcAft>
                <a:spcPts val="0"/>
              </a:spcAft>
              <a:buSzPts val="1800"/>
              <a:buChar char="●"/>
            </a:pPr>
            <a:r>
              <a:rPr lang="en"/>
              <a:t>Make linear performance appear linear</a:t>
            </a:r>
            <a:endParaRPr/>
          </a:p>
          <a:p>
            <a:pPr indent="-342900" lvl="0" marL="457200" rtl="0" algn="l">
              <a:spcBef>
                <a:spcPts val="0"/>
              </a:spcBef>
              <a:spcAft>
                <a:spcPts val="0"/>
              </a:spcAft>
              <a:buSzPts val="1800"/>
              <a:buChar char="●"/>
            </a:pPr>
            <a:r>
              <a:rPr lang="en"/>
              <a:t>Reveal qualitative changes</a:t>
            </a:r>
            <a:endParaRPr/>
          </a:p>
          <a:p>
            <a:pPr indent="-342900" lvl="0" marL="457200" rtl="0" algn="l">
              <a:spcBef>
                <a:spcPts val="0"/>
              </a:spcBef>
              <a:spcAft>
                <a:spcPts val="0"/>
              </a:spcAft>
              <a:buSzPts val="1800"/>
              <a:buChar char="●"/>
            </a:pPr>
            <a:r>
              <a:rPr lang="en"/>
              <a:t>Preserve Relative performance </a:t>
            </a:r>
            <a:endParaRPr/>
          </a:p>
          <a:p>
            <a:pPr indent="-342900" lvl="0" marL="457200" rtl="0" algn="l">
              <a:spcBef>
                <a:spcPts val="0"/>
              </a:spcBef>
              <a:spcAft>
                <a:spcPts val="0"/>
              </a:spcAft>
              <a:buSzPts val="1800"/>
              <a:buChar char="●"/>
            </a:pPr>
            <a:r>
              <a:rPr lang="en"/>
              <a:t>Scale Invariant </a:t>
            </a:r>
            <a:endParaRPr/>
          </a:p>
          <a:p>
            <a:pPr indent="0" lvl="0" marL="0" rtl="0" algn="l">
              <a:spcBef>
                <a:spcPts val="1200"/>
              </a:spcBef>
              <a:spcAft>
                <a:spcPts val="1200"/>
              </a:spcAft>
              <a:buNone/>
            </a:pPr>
            <a:r>
              <a:rPr lang="en"/>
              <a:t>Use log-log time plots when absolute performance is not the primary concern.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benchmarking crime #1 - Gil Tene’s coordinated omission</a:t>
            </a:r>
            <a:endParaRPr/>
          </a:p>
        </p:txBody>
      </p:sp>
      <p:sp>
        <p:nvSpPr>
          <p:cNvPr id="193" name="Google Shape;193;p35"/>
          <p:cNvSpPr txBox="1"/>
          <p:nvPr>
            <p:ph idx="1" type="body"/>
          </p:nvPr>
        </p:nvSpPr>
        <p:spPr>
          <a:xfrm>
            <a:off x="5750050" y="1152475"/>
            <a:ext cx="30822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b="1" lang="en" sz="1300">
                <a:solidFill>
                  <a:schemeClr val="dk1"/>
                </a:solidFill>
              </a:rPr>
              <a:t>illusion (Blue Line):</a:t>
            </a:r>
            <a:r>
              <a:rPr lang="en" sz="1300">
                <a:solidFill>
                  <a:schemeClr val="dk1"/>
                </a:solidFill>
              </a:rPr>
              <a:t> Standard "Closed Loop" tools (e.g., </a:t>
            </a:r>
            <a:r>
              <a:rPr lang="en" sz="1300">
                <a:solidFill>
                  <a:srgbClr val="188038"/>
                </a:solidFill>
                <a:latin typeface="Roboto Mono"/>
                <a:ea typeface="Roboto Mono"/>
                <a:cs typeface="Roboto Mono"/>
                <a:sym typeface="Roboto Mono"/>
              </a:rPr>
              <a:t>ab</a:t>
            </a:r>
            <a:r>
              <a:rPr lang="en" sz="1300">
                <a:solidFill>
                  <a:schemeClr val="dk1"/>
                </a:solidFill>
              </a:rPr>
              <a:t>, JMeter) report low latency even at high percentiles because they pause during server stalls.</a:t>
            </a:r>
            <a:endParaRPr sz="13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 sz="1300">
                <a:solidFill>
                  <a:schemeClr val="dk1"/>
                </a:solidFill>
              </a:rPr>
              <a:t>reality (Red Line):</a:t>
            </a:r>
            <a:r>
              <a:rPr lang="en" sz="1300">
                <a:solidFill>
                  <a:schemeClr val="dk1"/>
                </a:solidFill>
              </a:rPr>
              <a:t> "Open Loop" testing corrects this by measuring the </a:t>
            </a:r>
            <a:r>
              <a:rPr i="1" lang="en" sz="1300">
                <a:solidFill>
                  <a:schemeClr val="dk1"/>
                </a:solidFill>
              </a:rPr>
              <a:t>actual</a:t>
            </a:r>
            <a:r>
              <a:rPr lang="en" sz="1300">
                <a:solidFill>
                  <a:schemeClr val="dk1"/>
                </a:solidFill>
              </a:rPr>
              <a:t> wait time during stalls.</a:t>
            </a:r>
            <a:endParaRPr sz="13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 sz="1300">
                <a:solidFill>
                  <a:schemeClr val="dk1"/>
                </a:solidFill>
              </a:rPr>
              <a:t>delta:</a:t>
            </a:r>
            <a:r>
              <a:rPr lang="en" sz="1300">
                <a:solidFill>
                  <a:schemeClr val="dk1"/>
                </a:solidFill>
              </a:rPr>
              <a:t> The massive gap between the curves represents </a:t>
            </a:r>
            <a:r>
              <a:rPr b="1" lang="en" sz="1300">
                <a:solidFill>
                  <a:schemeClr val="dk1"/>
                </a:solidFill>
              </a:rPr>
              <a:t>Survivor Bias</a:t>
            </a:r>
            <a:r>
              <a:rPr lang="en" sz="1300">
                <a:solidFill>
                  <a:schemeClr val="dk1"/>
                </a:solidFill>
              </a:rPr>
              <a:t>: data points that were "omitted" because the benchmark tool was waiting for a response.</a:t>
            </a:r>
            <a:endParaRPr sz="13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 sz="1300">
                <a:solidFill>
                  <a:schemeClr val="dk1"/>
                </a:solidFill>
              </a:rPr>
              <a:t>fix:</a:t>
            </a:r>
            <a:r>
              <a:rPr lang="en" sz="1300">
                <a:solidFill>
                  <a:schemeClr val="dk1"/>
                </a:solidFill>
              </a:rPr>
              <a:t> Never trust high-percentile latency (p99, p99.9) from a closed-loop generator.</a:t>
            </a:r>
            <a:endParaRPr sz="1300">
              <a:solidFill>
                <a:schemeClr val="dk1"/>
              </a:solidFill>
            </a:endParaRPr>
          </a:p>
          <a:p>
            <a:pPr indent="0" lvl="0" marL="0" rtl="0" algn="l">
              <a:lnSpc>
                <a:spcPct val="105000"/>
              </a:lnSpc>
              <a:spcBef>
                <a:spcPts val="1200"/>
              </a:spcBef>
              <a:spcAft>
                <a:spcPts val="1200"/>
              </a:spcAft>
              <a:buNone/>
            </a:pPr>
            <a:r>
              <a:t/>
            </a:r>
            <a:endParaRPr sz="2000"/>
          </a:p>
        </p:txBody>
      </p:sp>
      <p:pic>
        <p:nvPicPr>
          <p:cNvPr id="194" name="Google Shape;194;p35"/>
          <p:cNvPicPr preferRelativeResize="0"/>
          <p:nvPr/>
        </p:nvPicPr>
        <p:blipFill>
          <a:blip r:embed="rId3">
            <a:alphaModFix/>
          </a:blip>
          <a:stretch>
            <a:fillRect/>
          </a:stretch>
        </p:blipFill>
        <p:spPr>
          <a:xfrm>
            <a:off x="0" y="1058675"/>
            <a:ext cx="5297824" cy="3973376"/>
          </a:xfrm>
          <a:prstGeom prst="rect">
            <a:avLst/>
          </a:prstGeom>
          <a:noFill/>
          <a:ln>
            <a:noFill/>
          </a:ln>
        </p:spPr>
      </p:pic>
      <p:cxnSp>
        <p:nvCxnSpPr>
          <p:cNvPr id="195" name="Google Shape;195;p35"/>
          <p:cNvCxnSpPr/>
          <p:nvPr/>
        </p:nvCxnSpPr>
        <p:spPr>
          <a:xfrm>
            <a:off x="2274450" y="2270800"/>
            <a:ext cx="759900" cy="354900"/>
          </a:xfrm>
          <a:prstGeom prst="straightConnector1">
            <a:avLst/>
          </a:prstGeom>
          <a:noFill/>
          <a:ln cap="flat" cmpd="sng" w="38100">
            <a:solidFill>
              <a:srgbClr val="FF0000"/>
            </a:solidFill>
            <a:prstDash val="solid"/>
            <a:round/>
            <a:headEnd len="med" w="med" type="none"/>
            <a:tailEnd len="med" w="med" type="triangle"/>
          </a:ln>
        </p:spPr>
      </p:cxnSp>
      <p:cxnSp>
        <p:nvCxnSpPr>
          <p:cNvPr id="196" name="Google Shape;196;p35"/>
          <p:cNvCxnSpPr/>
          <p:nvPr/>
        </p:nvCxnSpPr>
        <p:spPr>
          <a:xfrm>
            <a:off x="3804525" y="3405700"/>
            <a:ext cx="709800" cy="395700"/>
          </a:xfrm>
          <a:prstGeom prst="straightConnector1">
            <a:avLst/>
          </a:prstGeom>
          <a:noFill/>
          <a:ln cap="flat" cmpd="sng" w="38100">
            <a:solidFill>
              <a:srgbClr val="FF0000"/>
            </a:solidFill>
            <a:prstDash val="solid"/>
            <a:round/>
            <a:headEnd len="med" w="med" type="none"/>
            <a:tailEnd len="med" w="med" type="triangle"/>
          </a:ln>
        </p:spPr>
      </p:cxnSp>
      <p:sp>
        <p:nvSpPr>
          <p:cNvPr id="197" name="Google Shape;197;p35"/>
          <p:cNvSpPr txBox="1"/>
          <p:nvPr/>
        </p:nvSpPr>
        <p:spPr>
          <a:xfrm>
            <a:off x="3135750" y="2985000"/>
            <a:ext cx="124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0000"/>
                </a:solidFill>
              </a:rPr>
              <a:t>Uncorrected omission</a:t>
            </a:r>
            <a:endParaRPr sz="1100">
              <a:solidFill>
                <a:srgbClr val="FF0000"/>
              </a:solidFill>
            </a:endParaRPr>
          </a:p>
        </p:txBody>
      </p:sp>
      <p:sp>
        <p:nvSpPr>
          <p:cNvPr id="198" name="Google Shape;198;p35"/>
          <p:cNvSpPr txBox="1"/>
          <p:nvPr/>
        </p:nvSpPr>
        <p:spPr>
          <a:xfrm>
            <a:off x="1373025" y="1999050"/>
            <a:ext cx="124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0000"/>
                </a:solidFill>
              </a:rPr>
              <a:t>Corrected for coordinated omission</a:t>
            </a:r>
            <a:endParaRPr sz="110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benchmarking crime #2 - "zero-cost" throughput</a:t>
            </a:r>
            <a:endParaRPr/>
          </a:p>
        </p:txBody>
      </p:sp>
      <p:sp>
        <p:nvSpPr>
          <p:cNvPr id="204" name="Google Shape;204;p36"/>
          <p:cNvSpPr txBox="1"/>
          <p:nvPr>
            <p:ph idx="1" type="body"/>
          </p:nvPr>
        </p:nvSpPr>
        <p:spPr>
          <a:xfrm>
            <a:off x="4696225" y="1152475"/>
            <a:ext cx="4136100" cy="394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rPr>
              <a:t>decoupling fallacy:</a:t>
            </a:r>
            <a:r>
              <a:rPr lang="en" sz="1400">
                <a:solidFill>
                  <a:schemeClr val="dk1"/>
                </a:solidFill>
              </a:rPr>
              <a:t> Reporting "Max Throughput" and "Min Latency" as independent metrics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b="1" lang="en" sz="1400">
                <a:solidFill>
                  <a:schemeClr val="dk1"/>
                </a:solidFill>
              </a:rPr>
              <a:t>physics:</a:t>
            </a:r>
            <a:r>
              <a:rPr lang="en" sz="1400">
                <a:solidFill>
                  <a:schemeClr val="dk1"/>
                </a:solidFill>
              </a:rPr>
              <a:t> Little’s Law (L=λW) dictates that as utilization approaches 100%, queue lengths (and latency) approach infinity</a:t>
            </a:r>
            <a:endParaRPr sz="1400">
              <a:solidFill>
                <a:schemeClr val="dk1"/>
              </a:solidFill>
            </a:endParaRPr>
          </a:p>
          <a:p>
            <a:pPr indent="0" lvl="0" marL="0" rtl="0" algn="l">
              <a:spcBef>
                <a:spcPts val="0"/>
              </a:spcBef>
              <a:spcAft>
                <a:spcPts val="0"/>
              </a:spcAft>
              <a:buNone/>
            </a:pPr>
            <a:r>
              <a:t/>
            </a:r>
            <a:endParaRPr b="1" sz="1400">
              <a:solidFill>
                <a:schemeClr val="dk1"/>
              </a:solidFill>
            </a:endParaRPr>
          </a:p>
          <a:p>
            <a:pPr indent="0" lvl="0" marL="0" rtl="0" algn="l">
              <a:spcBef>
                <a:spcPts val="0"/>
              </a:spcBef>
              <a:spcAft>
                <a:spcPts val="0"/>
              </a:spcAft>
              <a:buClr>
                <a:schemeClr val="dk1"/>
              </a:buClr>
              <a:buSzPts val="1100"/>
              <a:buFont typeface="Arial"/>
              <a:buNone/>
            </a:pPr>
            <a:r>
              <a:rPr b="1" lang="en" sz="1400">
                <a:solidFill>
                  <a:schemeClr val="dk1"/>
                </a:solidFill>
              </a:rPr>
              <a:t>saturation point:</a:t>
            </a:r>
            <a:r>
              <a:rPr lang="en" sz="1400">
                <a:solidFill>
                  <a:schemeClr val="dk1"/>
                </a:solidFill>
              </a:rPr>
              <a:t> High throughput is often achieved by buffering, which inherently destroys latency</a:t>
            </a:r>
            <a:endParaRPr sz="1400">
              <a:solidFill>
                <a:schemeClr val="dk1"/>
              </a:solidFill>
            </a:endParaRPr>
          </a:p>
          <a:p>
            <a:pPr indent="0" lvl="0" marL="0" rtl="0" algn="l">
              <a:spcBef>
                <a:spcPts val="0"/>
              </a:spcBef>
              <a:spcAft>
                <a:spcPts val="0"/>
              </a:spcAft>
              <a:buNone/>
            </a:pPr>
            <a:r>
              <a:t/>
            </a:r>
            <a:endParaRPr b="1" sz="1400">
              <a:solidFill>
                <a:schemeClr val="dk1"/>
              </a:solidFill>
            </a:endParaRPr>
          </a:p>
          <a:p>
            <a:pPr indent="0" lvl="0" marL="0" rtl="0" algn="l">
              <a:spcBef>
                <a:spcPts val="0"/>
              </a:spcBef>
              <a:spcAft>
                <a:spcPts val="0"/>
              </a:spcAft>
              <a:buNone/>
            </a:pPr>
            <a:r>
              <a:rPr b="1" lang="en" sz="1400">
                <a:solidFill>
                  <a:schemeClr val="dk1"/>
                </a:solidFill>
              </a:rPr>
              <a:t>fix:</a:t>
            </a:r>
            <a:r>
              <a:rPr lang="en" sz="1400">
                <a:solidFill>
                  <a:schemeClr val="dk1"/>
                </a:solidFill>
              </a:rPr>
              <a:t> Never report single numbers. We plot the </a:t>
            </a:r>
            <a:r>
              <a:rPr b="1" lang="en" sz="1400">
                <a:solidFill>
                  <a:schemeClr val="dk1"/>
                </a:solidFill>
              </a:rPr>
              <a:t>Saturation Curve</a:t>
            </a:r>
            <a:r>
              <a:rPr lang="en" sz="1400">
                <a:solidFill>
                  <a:schemeClr val="dk1"/>
                </a:solidFill>
              </a:rPr>
              <a:t> to identify the "Knee", which is the precise load where latency degrades non-linearly</a:t>
            </a:r>
            <a:endParaRPr sz="2100"/>
          </a:p>
        </p:txBody>
      </p:sp>
      <p:pic>
        <p:nvPicPr>
          <p:cNvPr id="205" name="Google Shape;205;p36"/>
          <p:cNvPicPr preferRelativeResize="0"/>
          <p:nvPr/>
        </p:nvPicPr>
        <p:blipFill>
          <a:blip r:embed="rId3">
            <a:alphaModFix/>
          </a:blip>
          <a:stretch>
            <a:fillRect/>
          </a:stretch>
        </p:blipFill>
        <p:spPr>
          <a:xfrm>
            <a:off x="149573" y="1328925"/>
            <a:ext cx="4213775" cy="30814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7"/>
          <p:cNvPicPr preferRelativeResize="0"/>
          <p:nvPr/>
        </p:nvPicPr>
        <p:blipFill rotWithShape="1">
          <a:blip r:embed="rId3">
            <a:alphaModFix/>
          </a:blip>
          <a:srcRect b="7031" l="0" r="0" t="5196"/>
          <a:stretch/>
        </p:blipFill>
        <p:spPr>
          <a:xfrm>
            <a:off x="196075" y="100650"/>
            <a:ext cx="5490976" cy="4819752"/>
          </a:xfrm>
          <a:prstGeom prst="rect">
            <a:avLst/>
          </a:prstGeom>
          <a:noFill/>
          <a:ln>
            <a:noFill/>
          </a:ln>
        </p:spPr>
      </p:pic>
      <p:sp>
        <p:nvSpPr>
          <p:cNvPr id="211" name="Google Shape;211;p37"/>
          <p:cNvSpPr txBox="1"/>
          <p:nvPr/>
        </p:nvSpPr>
        <p:spPr>
          <a:xfrm>
            <a:off x="654126" y="4804804"/>
            <a:ext cx="4400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https://github.com/andportnoy/core-to-core-latency</a:t>
            </a:r>
            <a:endParaRPr sz="1000"/>
          </a:p>
        </p:txBody>
      </p:sp>
      <p:sp>
        <p:nvSpPr>
          <p:cNvPr id="212" name="Google Shape;212;p37"/>
          <p:cNvSpPr txBox="1"/>
          <p:nvPr/>
        </p:nvSpPr>
        <p:spPr>
          <a:xfrm>
            <a:off x="5774325" y="566400"/>
            <a:ext cx="3000000" cy="443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rPr>
              <a:t>failure of linearity:</a:t>
            </a:r>
            <a:r>
              <a:rPr lang="en" sz="1100">
                <a:solidFill>
                  <a:schemeClr val="dk1"/>
                </a:solidFill>
              </a:rPr>
              <a:t> High-dimensional data (e.g., N * N core interactions) cannot be flattened into line plots without losing topological context.</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"block diagonal" structure:</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Small Blocks (2 * 2):</a:t>
            </a:r>
            <a:r>
              <a:rPr lang="en" sz="1100">
                <a:solidFill>
                  <a:schemeClr val="dk1"/>
                </a:solidFill>
              </a:rPr>
              <a:t> Reveal </a:t>
            </a:r>
            <a:r>
              <a:rPr b="1" lang="en" sz="1100">
                <a:solidFill>
                  <a:schemeClr val="dk1"/>
                </a:solidFill>
              </a:rPr>
              <a:t>SMT</a:t>
            </a:r>
            <a:r>
              <a:rPr lang="en" sz="1100">
                <a:solidFill>
                  <a:schemeClr val="dk1"/>
                </a:solidFill>
              </a:rPr>
              <a:t> (Hyperthreading) siblings sharing L1/L2 cache.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Large Blocks (4 *4):</a:t>
            </a:r>
            <a:r>
              <a:rPr lang="en" sz="1100">
                <a:solidFill>
                  <a:schemeClr val="dk1"/>
                </a:solidFill>
              </a:rPr>
              <a:t> Reveal </a:t>
            </a:r>
            <a:r>
              <a:rPr b="1" lang="en" sz="1100">
                <a:solidFill>
                  <a:schemeClr val="dk1"/>
                </a:solidFill>
              </a:rPr>
              <a:t>CCX</a:t>
            </a:r>
            <a:r>
              <a:rPr lang="en" sz="1100">
                <a:solidFill>
                  <a:schemeClr val="dk1"/>
                </a:solidFill>
              </a:rPr>
              <a:t> (Core Complex) boundaries sharing L3 cache.</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"off-diagonal" penalty:</a:t>
            </a:r>
            <a:r>
              <a:rPr lang="en" sz="1100">
                <a:solidFill>
                  <a:schemeClr val="dk1"/>
                </a:solidFill>
              </a:rPr>
              <a:t> Yellow zones represent the latency cost of crossing the </a:t>
            </a:r>
            <a:r>
              <a:rPr b="1" lang="en" sz="1100">
                <a:solidFill>
                  <a:schemeClr val="dk1"/>
                </a:solidFill>
              </a:rPr>
              <a:t>infinity</a:t>
            </a:r>
            <a:r>
              <a:rPr b="1" lang="en" sz="1100">
                <a:solidFill>
                  <a:schemeClr val="dk1"/>
                </a:solidFill>
              </a:rPr>
              <a:t> fabric</a:t>
            </a:r>
            <a:r>
              <a:rPr lang="en" sz="1100">
                <a:solidFill>
                  <a:schemeClr val="dk1"/>
                </a:solidFill>
              </a:rPr>
              <a:t> or Interconnect.</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This data dictates </a:t>
            </a:r>
            <a:r>
              <a:rPr b="1" lang="en" sz="1100">
                <a:solidFill>
                  <a:schemeClr val="dk1"/>
                </a:solidFill>
              </a:rPr>
              <a:t>thread affinity</a:t>
            </a:r>
            <a:r>
              <a:rPr lang="en" sz="1100">
                <a:solidFill>
                  <a:schemeClr val="dk1"/>
                </a:solidFill>
              </a:rPr>
              <a:t> (</a:t>
            </a:r>
            <a:r>
              <a:rPr lang="en" sz="1100">
                <a:solidFill>
                  <a:srgbClr val="188038"/>
                </a:solidFill>
              </a:rPr>
              <a:t>sched_setaffinity</a:t>
            </a:r>
            <a:r>
              <a:rPr lang="en" sz="1100">
                <a:solidFill>
                  <a:schemeClr val="dk1"/>
                </a:solidFill>
              </a:rPr>
              <a:t>). We pin communicating threads within the same "Purple Block" to avoid the "Yellow" latency penalty.</a:t>
            </a:r>
            <a:endParaRPr sz="1100">
              <a:solidFill>
                <a:schemeClr val="dk1"/>
              </a:solidFill>
            </a:endParaRPr>
          </a:p>
          <a:p>
            <a:pPr indent="0" lvl="0" marL="0" rtl="0" algn="l">
              <a:spcBef>
                <a:spcPts val="0"/>
              </a:spcBef>
              <a:spcAft>
                <a:spcPts val="0"/>
              </a:spcAft>
              <a:buNone/>
            </a:pPr>
            <a:r>
              <a:t/>
            </a:r>
            <a:endParaRPr b="1" sz="1300">
              <a:solidFill>
                <a:schemeClr val="dk1"/>
              </a:solidFill>
            </a:endParaRPr>
          </a:p>
        </p:txBody>
      </p:sp>
      <p:cxnSp>
        <p:nvCxnSpPr>
          <p:cNvPr id="213" name="Google Shape;213;p37"/>
          <p:cNvCxnSpPr/>
          <p:nvPr/>
        </p:nvCxnSpPr>
        <p:spPr>
          <a:xfrm>
            <a:off x="1332075" y="374125"/>
            <a:ext cx="699000" cy="792600"/>
          </a:xfrm>
          <a:prstGeom prst="straightConnector1">
            <a:avLst/>
          </a:prstGeom>
          <a:noFill/>
          <a:ln cap="flat" cmpd="sng" w="19050">
            <a:solidFill>
              <a:srgbClr val="FF0000"/>
            </a:solidFill>
            <a:prstDash val="solid"/>
            <a:round/>
            <a:headEnd len="med" w="med" type="none"/>
            <a:tailEnd len="med" w="med" type="triangle"/>
          </a:ln>
        </p:spPr>
      </p:cxnSp>
      <p:sp>
        <p:nvSpPr>
          <p:cNvPr id="214" name="Google Shape;214;p37"/>
          <p:cNvSpPr txBox="1"/>
          <p:nvPr/>
        </p:nvSpPr>
        <p:spPr>
          <a:xfrm>
            <a:off x="268525" y="100650"/>
            <a:ext cx="1823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0000"/>
                </a:solidFill>
              </a:rPr>
              <a:t>L3 Cache Domain (CCX)</a:t>
            </a:r>
            <a:endParaRPr sz="1100">
              <a:solidFill>
                <a:srgbClr val="FF0000"/>
              </a:solidFill>
            </a:endParaRPr>
          </a:p>
        </p:txBody>
      </p:sp>
      <p:cxnSp>
        <p:nvCxnSpPr>
          <p:cNvPr id="215" name="Google Shape;215;p37"/>
          <p:cNvCxnSpPr/>
          <p:nvPr/>
        </p:nvCxnSpPr>
        <p:spPr>
          <a:xfrm flipH="1">
            <a:off x="3705275" y="343725"/>
            <a:ext cx="545100" cy="752700"/>
          </a:xfrm>
          <a:prstGeom prst="straightConnector1">
            <a:avLst/>
          </a:prstGeom>
          <a:noFill/>
          <a:ln cap="flat" cmpd="sng" w="19050">
            <a:solidFill>
              <a:srgbClr val="FF0000"/>
            </a:solidFill>
            <a:prstDash val="solid"/>
            <a:round/>
            <a:headEnd len="med" w="med" type="none"/>
            <a:tailEnd len="med" w="med" type="triangle"/>
          </a:ln>
        </p:spPr>
      </p:cxnSp>
      <p:sp>
        <p:nvSpPr>
          <p:cNvPr id="216" name="Google Shape;216;p37"/>
          <p:cNvSpPr txBox="1"/>
          <p:nvPr/>
        </p:nvSpPr>
        <p:spPr>
          <a:xfrm>
            <a:off x="3660300" y="80384"/>
            <a:ext cx="1823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0000"/>
                </a:solidFill>
              </a:rPr>
              <a:t>Interconnect Penalty</a:t>
            </a:r>
            <a:endParaRPr sz="1100">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